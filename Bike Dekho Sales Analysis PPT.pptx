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hewy" charset="1" panose="02000000000000000000"/>
      <p:regular r:id="rId23"/>
    </p:embeddedFont>
    <p:embeddedFont>
      <p:font typeface="Baloo" charset="1" panose="03080902040302020200"/>
      <p:regular r:id="rId24"/>
    </p:embeddedFont>
    <p:embeddedFont>
      <p:font typeface="TT Rounds Condensed" charset="1" panose="02000506030000020003"/>
      <p:regular r:id="rId25"/>
    </p:embeddedFont>
    <p:embeddedFont>
      <p:font typeface="TT Rounds Condensed Bold" charset="1" panose="020008060300000200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4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5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7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C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7331" y="1018621"/>
            <a:ext cx="20830043" cy="3382958"/>
            <a:chOff x="0" y="0"/>
            <a:chExt cx="5115576" cy="830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830808"/>
            </a:xfrm>
            <a:custGeom>
              <a:avLst/>
              <a:gdLst/>
              <a:ahLst/>
              <a:cxnLst/>
              <a:rect r="r" b="b" t="t" l="l"/>
              <a:pathLst>
                <a:path h="830808" w="5115577">
                  <a:moveTo>
                    <a:pt x="13380" y="0"/>
                  </a:moveTo>
                  <a:lnTo>
                    <a:pt x="5102196" y="0"/>
                  </a:lnTo>
                  <a:cubicBezTo>
                    <a:pt x="5105745" y="0"/>
                    <a:pt x="5109148" y="1410"/>
                    <a:pt x="5111657" y="3919"/>
                  </a:cubicBezTo>
                  <a:cubicBezTo>
                    <a:pt x="5114167" y="6428"/>
                    <a:pt x="5115577" y="9832"/>
                    <a:pt x="5115577" y="13380"/>
                  </a:cubicBezTo>
                  <a:lnTo>
                    <a:pt x="5115577" y="817428"/>
                  </a:lnTo>
                  <a:cubicBezTo>
                    <a:pt x="5115577" y="820977"/>
                    <a:pt x="5114167" y="824380"/>
                    <a:pt x="5111657" y="826890"/>
                  </a:cubicBezTo>
                  <a:cubicBezTo>
                    <a:pt x="5109148" y="829399"/>
                    <a:pt x="5105745" y="830808"/>
                    <a:pt x="5102196" y="830808"/>
                  </a:cubicBezTo>
                  <a:lnTo>
                    <a:pt x="13380" y="830808"/>
                  </a:lnTo>
                  <a:cubicBezTo>
                    <a:pt x="9832" y="830808"/>
                    <a:pt x="6428" y="829399"/>
                    <a:pt x="3919" y="826890"/>
                  </a:cubicBezTo>
                  <a:cubicBezTo>
                    <a:pt x="1410" y="824380"/>
                    <a:pt x="0" y="820977"/>
                    <a:pt x="0" y="817428"/>
                  </a:cubicBezTo>
                  <a:lnTo>
                    <a:pt x="0" y="13380"/>
                  </a:lnTo>
                  <a:cubicBezTo>
                    <a:pt x="0" y="9832"/>
                    <a:pt x="1410" y="6428"/>
                    <a:pt x="3919" y="3919"/>
                  </a:cubicBezTo>
                  <a:cubicBezTo>
                    <a:pt x="6428" y="1410"/>
                    <a:pt x="9832" y="0"/>
                    <a:pt x="13380" y="0"/>
                  </a:cubicBezTo>
                  <a:close/>
                </a:path>
              </a:pathLst>
            </a:custGeom>
            <a:solidFill>
              <a:srgbClr val="1D79C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23850"/>
              <a:ext cx="5115576" cy="115465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1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64075" y="3863422"/>
            <a:ext cx="8687231" cy="1483842"/>
            <a:chOff x="0" y="0"/>
            <a:chExt cx="2133466" cy="3644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466" cy="364411"/>
            </a:xfrm>
            <a:custGeom>
              <a:avLst/>
              <a:gdLst/>
              <a:ahLst/>
              <a:cxnLst/>
              <a:rect r="r" b="b" t="t" l="l"/>
              <a:pathLst>
                <a:path h="364411" w="2133466">
                  <a:moveTo>
                    <a:pt x="45450" y="0"/>
                  </a:moveTo>
                  <a:lnTo>
                    <a:pt x="2088016" y="0"/>
                  </a:lnTo>
                  <a:cubicBezTo>
                    <a:pt x="2100070" y="0"/>
                    <a:pt x="2111630" y="4789"/>
                    <a:pt x="2120154" y="13312"/>
                  </a:cubicBezTo>
                  <a:cubicBezTo>
                    <a:pt x="2128678" y="21836"/>
                    <a:pt x="2133466" y="33396"/>
                    <a:pt x="2133466" y="45450"/>
                  </a:cubicBezTo>
                  <a:lnTo>
                    <a:pt x="2133466" y="318961"/>
                  </a:lnTo>
                  <a:cubicBezTo>
                    <a:pt x="2133466" y="344063"/>
                    <a:pt x="2113117" y="364411"/>
                    <a:pt x="2088016" y="364411"/>
                  </a:cubicBezTo>
                  <a:lnTo>
                    <a:pt x="45450" y="364411"/>
                  </a:lnTo>
                  <a:cubicBezTo>
                    <a:pt x="20349" y="364411"/>
                    <a:pt x="0" y="344063"/>
                    <a:pt x="0" y="318961"/>
                  </a:cubicBezTo>
                  <a:lnTo>
                    <a:pt x="0" y="45450"/>
                  </a:lnTo>
                  <a:cubicBezTo>
                    <a:pt x="0" y="20349"/>
                    <a:pt x="20349" y="0"/>
                    <a:pt x="454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2133466" cy="516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939"/>
                </a:lnSpc>
              </a:pPr>
              <a:r>
                <a:rPr lang="en-US" sz="70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Excel 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8246029"/>
            <a:ext cx="3390434" cy="2024542"/>
          </a:xfrm>
          <a:custGeom>
            <a:avLst/>
            <a:gdLst/>
            <a:ahLst/>
            <a:cxnLst/>
            <a:rect r="r" b="b" t="t" l="l"/>
            <a:pathLst>
              <a:path h="2024542" w="3390434">
                <a:moveTo>
                  <a:pt x="0" y="0"/>
                </a:moveTo>
                <a:lnTo>
                  <a:pt x="3390434" y="0"/>
                </a:lnTo>
                <a:lnTo>
                  <a:pt x="3390434" y="2024542"/>
                </a:lnTo>
                <a:lnTo>
                  <a:pt x="0" y="2024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363562"/>
            <a:ext cx="947379" cy="1175009"/>
          </a:xfrm>
          <a:custGeom>
            <a:avLst/>
            <a:gdLst/>
            <a:ahLst/>
            <a:cxnLst/>
            <a:rect r="r" b="b" t="t" l="l"/>
            <a:pathLst>
              <a:path h="1175009" w="947379">
                <a:moveTo>
                  <a:pt x="0" y="0"/>
                </a:moveTo>
                <a:lnTo>
                  <a:pt x="947379" y="0"/>
                </a:lnTo>
                <a:lnTo>
                  <a:pt x="947379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41367" y="2538571"/>
            <a:ext cx="947379" cy="1175009"/>
          </a:xfrm>
          <a:custGeom>
            <a:avLst/>
            <a:gdLst/>
            <a:ahLst/>
            <a:cxnLst/>
            <a:rect r="r" b="b" t="t" l="l"/>
            <a:pathLst>
              <a:path h="1175009" w="947379">
                <a:moveTo>
                  <a:pt x="0" y="0"/>
                </a:moveTo>
                <a:lnTo>
                  <a:pt x="947379" y="0"/>
                </a:lnTo>
                <a:lnTo>
                  <a:pt x="947379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84960" y="1254638"/>
            <a:ext cx="15856407" cy="241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4"/>
              </a:lnSpc>
              <a:spcBef>
                <a:spcPct val="0"/>
              </a:spcBef>
            </a:pPr>
            <a:r>
              <a:rPr lang="en-US" sz="6902" spc="104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BIKE DEKHO SALES ANALYSIS DASHBOARD-INSIGHTS &amp; FINDINGS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31400" y="6044656"/>
            <a:ext cx="8309967" cy="920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1"/>
              </a:lnSpc>
              <a:spcBef>
                <a:spcPct val="0"/>
              </a:spcBef>
            </a:pPr>
            <a:r>
              <a:rPr lang="en-US" sz="5379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Prepared by : Eshani Banik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C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7331" y="1018621"/>
            <a:ext cx="20830043" cy="2185296"/>
            <a:chOff x="0" y="0"/>
            <a:chExt cx="5115576" cy="536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536679"/>
            </a:xfrm>
            <a:custGeom>
              <a:avLst/>
              <a:gdLst/>
              <a:ahLst/>
              <a:cxnLst/>
              <a:rect r="r" b="b" t="t" l="l"/>
              <a:pathLst>
                <a:path h="536679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517724"/>
                  </a:lnTo>
                  <a:cubicBezTo>
                    <a:pt x="5115577" y="522751"/>
                    <a:pt x="5113579" y="527572"/>
                    <a:pt x="5110025" y="531127"/>
                  </a:cubicBezTo>
                  <a:cubicBezTo>
                    <a:pt x="5106470" y="534682"/>
                    <a:pt x="5101649" y="536679"/>
                    <a:pt x="5096621" y="536679"/>
                  </a:cubicBezTo>
                  <a:lnTo>
                    <a:pt x="18955" y="536679"/>
                  </a:lnTo>
                  <a:cubicBezTo>
                    <a:pt x="13928" y="536679"/>
                    <a:pt x="9107" y="534682"/>
                    <a:pt x="5552" y="531127"/>
                  </a:cubicBezTo>
                  <a:cubicBezTo>
                    <a:pt x="1997" y="527572"/>
                    <a:pt x="0" y="522751"/>
                    <a:pt x="0" y="517724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1D79C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5115576" cy="727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22884" y="4225483"/>
            <a:ext cx="9848242" cy="5625197"/>
            <a:chOff x="0" y="0"/>
            <a:chExt cx="3189355" cy="18217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89355" cy="1821721"/>
            </a:xfrm>
            <a:custGeom>
              <a:avLst/>
              <a:gdLst/>
              <a:ahLst/>
              <a:cxnLst/>
              <a:rect r="r" b="b" t="t" l="l"/>
              <a:pathLst>
                <a:path h="1821721" w="3189355">
                  <a:moveTo>
                    <a:pt x="40092" y="0"/>
                  </a:moveTo>
                  <a:lnTo>
                    <a:pt x="3149263" y="0"/>
                  </a:lnTo>
                  <a:cubicBezTo>
                    <a:pt x="3159896" y="0"/>
                    <a:pt x="3170094" y="4224"/>
                    <a:pt x="3177613" y="11743"/>
                  </a:cubicBezTo>
                  <a:cubicBezTo>
                    <a:pt x="3185131" y="19261"/>
                    <a:pt x="3189355" y="29459"/>
                    <a:pt x="3189355" y="40092"/>
                  </a:cubicBezTo>
                  <a:lnTo>
                    <a:pt x="3189355" y="1781629"/>
                  </a:lnTo>
                  <a:cubicBezTo>
                    <a:pt x="3189355" y="1792262"/>
                    <a:pt x="3185131" y="1802460"/>
                    <a:pt x="3177613" y="1809979"/>
                  </a:cubicBezTo>
                  <a:cubicBezTo>
                    <a:pt x="3170094" y="1817497"/>
                    <a:pt x="3159896" y="1821721"/>
                    <a:pt x="3149263" y="1821721"/>
                  </a:cubicBezTo>
                  <a:lnTo>
                    <a:pt x="40092" y="1821721"/>
                  </a:lnTo>
                  <a:cubicBezTo>
                    <a:pt x="29459" y="1821721"/>
                    <a:pt x="19261" y="1817497"/>
                    <a:pt x="11743" y="1809979"/>
                  </a:cubicBezTo>
                  <a:cubicBezTo>
                    <a:pt x="4224" y="1802460"/>
                    <a:pt x="0" y="1792262"/>
                    <a:pt x="0" y="1781629"/>
                  </a:cubicBezTo>
                  <a:lnTo>
                    <a:pt x="0" y="40092"/>
                  </a:lnTo>
                  <a:cubicBezTo>
                    <a:pt x="0" y="29459"/>
                    <a:pt x="4224" y="19261"/>
                    <a:pt x="11743" y="11743"/>
                  </a:cubicBezTo>
                  <a:cubicBezTo>
                    <a:pt x="19261" y="4224"/>
                    <a:pt x="29459" y="0"/>
                    <a:pt x="400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3189355" cy="188839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61380" y="4225483"/>
            <a:ext cx="4897443" cy="5625197"/>
            <a:chOff x="0" y="0"/>
            <a:chExt cx="1586038" cy="18217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6038" cy="1821721"/>
            </a:xfrm>
            <a:custGeom>
              <a:avLst/>
              <a:gdLst/>
              <a:ahLst/>
              <a:cxnLst/>
              <a:rect r="r" b="b" t="t" l="l"/>
              <a:pathLst>
                <a:path h="1821721" w="1586038">
                  <a:moveTo>
                    <a:pt x="80621" y="0"/>
                  </a:moveTo>
                  <a:lnTo>
                    <a:pt x="1505417" y="0"/>
                  </a:lnTo>
                  <a:cubicBezTo>
                    <a:pt x="1526799" y="0"/>
                    <a:pt x="1547305" y="8494"/>
                    <a:pt x="1562424" y="23613"/>
                  </a:cubicBezTo>
                  <a:cubicBezTo>
                    <a:pt x="1577544" y="38733"/>
                    <a:pt x="1586038" y="59239"/>
                    <a:pt x="1586038" y="80621"/>
                  </a:cubicBezTo>
                  <a:lnTo>
                    <a:pt x="1586038" y="1741100"/>
                  </a:lnTo>
                  <a:cubicBezTo>
                    <a:pt x="1586038" y="1762482"/>
                    <a:pt x="1577544" y="1782988"/>
                    <a:pt x="1562424" y="1798108"/>
                  </a:cubicBezTo>
                  <a:cubicBezTo>
                    <a:pt x="1547305" y="1813227"/>
                    <a:pt x="1526799" y="1821721"/>
                    <a:pt x="1505417" y="1821721"/>
                  </a:cubicBezTo>
                  <a:lnTo>
                    <a:pt x="80621" y="1821721"/>
                  </a:lnTo>
                  <a:cubicBezTo>
                    <a:pt x="59239" y="1821721"/>
                    <a:pt x="38733" y="1813227"/>
                    <a:pt x="23613" y="1798108"/>
                  </a:cubicBezTo>
                  <a:cubicBezTo>
                    <a:pt x="8494" y="1782988"/>
                    <a:pt x="0" y="1762482"/>
                    <a:pt x="0" y="1741100"/>
                  </a:cubicBezTo>
                  <a:lnTo>
                    <a:pt x="0" y="80621"/>
                  </a:lnTo>
                  <a:cubicBezTo>
                    <a:pt x="0" y="59239"/>
                    <a:pt x="8494" y="38733"/>
                    <a:pt x="23613" y="23613"/>
                  </a:cubicBezTo>
                  <a:cubicBezTo>
                    <a:pt x="38733" y="8494"/>
                    <a:pt x="59239" y="0"/>
                    <a:pt x="806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586038" cy="188839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340873" y="4604327"/>
            <a:ext cx="2694171" cy="3876505"/>
          </a:xfrm>
          <a:custGeom>
            <a:avLst/>
            <a:gdLst/>
            <a:ahLst/>
            <a:cxnLst/>
            <a:rect r="r" b="b" t="t" l="l"/>
            <a:pathLst>
              <a:path h="3876505" w="2694171">
                <a:moveTo>
                  <a:pt x="0" y="0"/>
                </a:moveTo>
                <a:lnTo>
                  <a:pt x="2694171" y="0"/>
                </a:lnTo>
                <a:lnTo>
                  <a:pt x="2694171" y="3876504"/>
                </a:lnTo>
                <a:lnTo>
                  <a:pt x="0" y="3876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93494" y="1478995"/>
            <a:ext cx="947379" cy="1175009"/>
          </a:xfrm>
          <a:custGeom>
            <a:avLst/>
            <a:gdLst/>
            <a:ahLst/>
            <a:cxnLst/>
            <a:rect r="r" b="b" t="t" l="l"/>
            <a:pathLst>
              <a:path h="1175009" w="947379">
                <a:moveTo>
                  <a:pt x="0" y="0"/>
                </a:moveTo>
                <a:lnTo>
                  <a:pt x="947379" y="0"/>
                </a:lnTo>
                <a:lnTo>
                  <a:pt x="947379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340873" y="1152419"/>
            <a:ext cx="13376994" cy="162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60"/>
              </a:lnSpc>
              <a:spcBef>
                <a:spcPct val="0"/>
              </a:spcBef>
            </a:pPr>
            <a:r>
              <a:rPr lang="en-US" sz="9400" spc="142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EXECUTIVE SUMMARY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88943" y="4765188"/>
            <a:ext cx="8861640" cy="47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Built an interactive Excel dashboard with slicers, KPIs, and dynamic charts</a:t>
            </a:r>
          </a:p>
          <a:p>
            <a:pPr algn="l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Analyzed customer demographics, behavior, and regional performance</a:t>
            </a:r>
          </a:p>
          <a:p>
            <a:pPr algn="l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Identified key buying pat</a:t>
            </a: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terns and conversion trends</a:t>
            </a:r>
          </a:p>
          <a:p>
            <a:pPr algn="l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Extracted insights to support data-driven business decisions.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597437" y="1352444"/>
            <a:ext cx="947379" cy="1175009"/>
          </a:xfrm>
          <a:custGeom>
            <a:avLst/>
            <a:gdLst/>
            <a:ahLst/>
            <a:cxnLst/>
            <a:rect r="r" b="b" t="t" l="l"/>
            <a:pathLst>
              <a:path h="1175009" w="947379">
                <a:moveTo>
                  <a:pt x="0" y="0"/>
                </a:moveTo>
                <a:lnTo>
                  <a:pt x="947379" y="0"/>
                </a:lnTo>
                <a:lnTo>
                  <a:pt x="947379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C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7331" y="1018621"/>
            <a:ext cx="20830043" cy="2185296"/>
            <a:chOff x="0" y="0"/>
            <a:chExt cx="5115576" cy="536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536679"/>
            </a:xfrm>
            <a:custGeom>
              <a:avLst/>
              <a:gdLst/>
              <a:ahLst/>
              <a:cxnLst/>
              <a:rect r="r" b="b" t="t" l="l"/>
              <a:pathLst>
                <a:path h="536679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517724"/>
                  </a:lnTo>
                  <a:cubicBezTo>
                    <a:pt x="5115577" y="522751"/>
                    <a:pt x="5113579" y="527572"/>
                    <a:pt x="5110025" y="531127"/>
                  </a:cubicBezTo>
                  <a:cubicBezTo>
                    <a:pt x="5106470" y="534682"/>
                    <a:pt x="5101649" y="536679"/>
                    <a:pt x="5096621" y="536679"/>
                  </a:cubicBezTo>
                  <a:lnTo>
                    <a:pt x="18955" y="536679"/>
                  </a:lnTo>
                  <a:cubicBezTo>
                    <a:pt x="13928" y="536679"/>
                    <a:pt x="9107" y="534682"/>
                    <a:pt x="5552" y="531127"/>
                  </a:cubicBezTo>
                  <a:cubicBezTo>
                    <a:pt x="1997" y="527572"/>
                    <a:pt x="0" y="522751"/>
                    <a:pt x="0" y="517724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1D79C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5115576" cy="727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22884" y="4225483"/>
            <a:ext cx="9848242" cy="5625197"/>
            <a:chOff x="0" y="0"/>
            <a:chExt cx="3189355" cy="18217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89355" cy="1821721"/>
            </a:xfrm>
            <a:custGeom>
              <a:avLst/>
              <a:gdLst/>
              <a:ahLst/>
              <a:cxnLst/>
              <a:rect r="r" b="b" t="t" l="l"/>
              <a:pathLst>
                <a:path h="1821721" w="3189355">
                  <a:moveTo>
                    <a:pt x="40092" y="0"/>
                  </a:moveTo>
                  <a:lnTo>
                    <a:pt x="3149263" y="0"/>
                  </a:lnTo>
                  <a:cubicBezTo>
                    <a:pt x="3159896" y="0"/>
                    <a:pt x="3170094" y="4224"/>
                    <a:pt x="3177613" y="11743"/>
                  </a:cubicBezTo>
                  <a:cubicBezTo>
                    <a:pt x="3185131" y="19261"/>
                    <a:pt x="3189355" y="29459"/>
                    <a:pt x="3189355" y="40092"/>
                  </a:cubicBezTo>
                  <a:lnTo>
                    <a:pt x="3189355" y="1781629"/>
                  </a:lnTo>
                  <a:cubicBezTo>
                    <a:pt x="3189355" y="1792262"/>
                    <a:pt x="3185131" y="1802460"/>
                    <a:pt x="3177613" y="1809979"/>
                  </a:cubicBezTo>
                  <a:cubicBezTo>
                    <a:pt x="3170094" y="1817497"/>
                    <a:pt x="3159896" y="1821721"/>
                    <a:pt x="3149263" y="1821721"/>
                  </a:cubicBezTo>
                  <a:lnTo>
                    <a:pt x="40092" y="1821721"/>
                  </a:lnTo>
                  <a:cubicBezTo>
                    <a:pt x="29459" y="1821721"/>
                    <a:pt x="19261" y="1817497"/>
                    <a:pt x="11743" y="1809979"/>
                  </a:cubicBezTo>
                  <a:cubicBezTo>
                    <a:pt x="4224" y="1802460"/>
                    <a:pt x="0" y="1792262"/>
                    <a:pt x="0" y="1781629"/>
                  </a:cubicBezTo>
                  <a:lnTo>
                    <a:pt x="0" y="40092"/>
                  </a:lnTo>
                  <a:cubicBezTo>
                    <a:pt x="0" y="29459"/>
                    <a:pt x="4224" y="19261"/>
                    <a:pt x="11743" y="11743"/>
                  </a:cubicBezTo>
                  <a:cubicBezTo>
                    <a:pt x="19261" y="4224"/>
                    <a:pt x="29459" y="0"/>
                    <a:pt x="400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3189355" cy="188839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61380" y="4225483"/>
            <a:ext cx="4897443" cy="5625197"/>
            <a:chOff x="0" y="0"/>
            <a:chExt cx="1586038" cy="18217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6038" cy="1821721"/>
            </a:xfrm>
            <a:custGeom>
              <a:avLst/>
              <a:gdLst/>
              <a:ahLst/>
              <a:cxnLst/>
              <a:rect r="r" b="b" t="t" l="l"/>
              <a:pathLst>
                <a:path h="1821721" w="1586038">
                  <a:moveTo>
                    <a:pt x="80621" y="0"/>
                  </a:moveTo>
                  <a:lnTo>
                    <a:pt x="1505417" y="0"/>
                  </a:lnTo>
                  <a:cubicBezTo>
                    <a:pt x="1526799" y="0"/>
                    <a:pt x="1547305" y="8494"/>
                    <a:pt x="1562424" y="23613"/>
                  </a:cubicBezTo>
                  <a:cubicBezTo>
                    <a:pt x="1577544" y="38733"/>
                    <a:pt x="1586038" y="59239"/>
                    <a:pt x="1586038" y="80621"/>
                  </a:cubicBezTo>
                  <a:lnTo>
                    <a:pt x="1586038" y="1741100"/>
                  </a:lnTo>
                  <a:cubicBezTo>
                    <a:pt x="1586038" y="1762482"/>
                    <a:pt x="1577544" y="1782988"/>
                    <a:pt x="1562424" y="1798108"/>
                  </a:cubicBezTo>
                  <a:cubicBezTo>
                    <a:pt x="1547305" y="1813227"/>
                    <a:pt x="1526799" y="1821721"/>
                    <a:pt x="1505417" y="1821721"/>
                  </a:cubicBezTo>
                  <a:lnTo>
                    <a:pt x="80621" y="1821721"/>
                  </a:lnTo>
                  <a:cubicBezTo>
                    <a:pt x="59239" y="1821721"/>
                    <a:pt x="38733" y="1813227"/>
                    <a:pt x="23613" y="1798108"/>
                  </a:cubicBezTo>
                  <a:cubicBezTo>
                    <a:pt x="8494" y="1782988"/>
                    <a:pt x="0" y="1762482"/>
                    <a:pt x="0" y="1741100"/>
                  </a:cubicBezTo>
                  <a:lnTo>
                    <a:pt x="0" y="80621"/>
                  </a:lnTo>
                  <a:cubicBezTo>
                    <a:pt x="0" y="59239"/>
                    <a:pt x="8494" y="38733"/>
                    <a:pt x="23613" y="23613"/>
                  </a:cubicBezTo>
                  <a:cubicBezTo>
                    <a:pt x="38733" y="8494"/>
                    <a:pt x="59239" y="0"/>
                    <a:pt x="806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586038" cy="188839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340873" y="4604327"/>
            <a:ext cx="2694171" cy="3876505"/>
          </a:xfrm>
          <a:custGeom>
            <a:avLst/>
            <a:gdLst/>
            <a:ahLst/>
            <a:cxnLst/>
            <a:rect r="r" b="b" t="t" l="l"/>
            <a:pathLst>
              <a:path h="3876505" w="2694171">
                <a:moveTo>
                  <a:pt x="0" y="0"/>
                </a:moveTo>
                <a:lnTo>
                  <a:pt x="2694171" y="0"/>
                </a:lnTo>
                <a:lnTo>
                  <a:pt x="2694171" y="3876504"/>
                </a:lnTo>
                <a:lnTo>
                  <a:pt x="0" y="3876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40873" y="1152419"/>
            <a:ext cx="13376994" cy="162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60"/>
              </a:lnSpc>
              <a:spcBef>
                <a:spcPct val="0"/>
              </a:spcBef>
            </a:pPr>
            <a:r>
              <a:rPr lang="en-US" sz="9400" spc="142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BUSINESS 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09558" y="4614234"/>
            <a:ext cx="8861640" cy="4180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Identify which customers buy bikes.</a:t>
            </a:r>
          </a:p>
          <a:p>
            <a:pPr algn="l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Understand influence of gender, age, income, and region.</a:t>
            </a:r>
          </a:p>
          <a:p>
            <a:pPr algn="l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Analyze external factors like commute distance, marital sta</a:t>
            </a: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tus, children.</a:t>
            </a:r>
          </a:p>
          <a:p>
            <a:pPr algn="l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Understand customer conversion rate.</a:t>
            </a:r>
          </a:p>
          <a:p>
            <a:pPr algn="l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</a:t>
            </a: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elp leadership with quick real-time insights.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393494" y="1478995"/>
            <a:ext cx="947379" cy="1175009"/>
          </a:xfrm>
          <a:custGeom>
            <a:avLst/>
            <a:gdLst/>
            <a:ahLst/>
            <a:cxnLst/>
            <a:rect r="r" b="b" t="t" l="l"/>
            <a:pathLst>
              <a:path h="1175009" w="947379">
                <a:moveTo>
                  <a:pt x="0" y="0"/>
                </a:moveTo>
                <a:lnTo>
                  <a:pt x="947379" y="0"/>
                </a:lnTo>
                <a:lnTo>
                  <a:pt x="947379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371197" y="1605547"/>
            <a:ext cx="947379" cy="1175009"/>
          </a:xfrm>
          <a:custGeom>
            <a:avLst/>
            <a:gdLst/>
            <a:ahLst/>
            <a:cxnLst/>
            <a:rect r="r" b="b" t="t" l="l"/>
            <a:pathLst>
              <a:path h="1175009" w="947379">
                <a:moveTo>
                  <a:pt x="0" y="0"/>
                </a:moveTo>
                <a:lnTo>
                  <a:pt x="947380" y="0"/>
                </a:lnTo>
                <a:lnTo>
                  <a:pt x="947380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C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7331" y="1018621"/>
            <a:ext cx="20830043" cy="2185296"/>
            <a:chOff x="0" y="0"/>
            <a:chExt cx="5115576" cy="536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536679"/>
            </a:xfrm>
            <a:custGeom>
              <a:avLst/>
              <a:gdLst/>
              <a:ahLst/>
              <a:cxnLst/>
              <a:rect r="r" b="b" t="t" l="l"/>
              <a:pathLst>
                <a:path h="536679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517724"/>
                  </a:lnTo>
                  <a:cubicBezTo>
                    <a:pt x="5115577" y="522751"/>
                    <a:pt x="5113579" y="527572"/>
                    <a:pt x="5110025" y="531127"/>
                  </a:cubicBezTo>
                  <a:cubicBezTo>
                    <a:pt x="5106470" y="534682"/>
                    <a:pt x="5101649" y="536679"/>
                    <a:pt x="5096621" y="536679"/>
                  </a:cubicBezTo>
                  <a:lnTo>
                    <a:pt x="18955" y="536679"/>
                  </a:lnTo>
                  <a:cubicBezTo>
                    <a:pt x="13928" y="536679"/>
                    <a:pt x="9107" y="534682"/>
                    <a:pt x="5552" y="531127"/>
                  </a:cubicBezTo>
                  <a:cubicBezTo>
                    <a:pt x="1997" y="527572"/>
                    <a:pt x="0" y="522751"/>
                    <a:pt x="0" y="517724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1D79C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5115576" cy="727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72890" y="3656792"/>
            <a:ext cx="4998476" cy="939209"/>
            <a:chOff x="0" y="0"/>
            <a:chExt cx="1227558" cy="230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7558" cy="230657"/>
            </a:xfrm>
            <a:custGeom>
              <a:avLst/>
              <a:gdLst/>
              <a:ahLst/>
              <a:cxnLst/>
              <a:rect r="r" b="b" t="t" l="l"/>
              <a:pathLst>
                <a:path h="230657" w="1227558">
                  <a:moveTo>
                    <a:pt x="78992" y="0"/>
                  </a:moveTo>
                  <a:lnTo>
                    <a:pt x="1148566" y="0"/>
                  </a:lnTo>
                  <a:cubicBezTo>
                    <a:pt x="1192192" y="0"/>
                    <a:pt x="1227558" y="35366"/>
                    <a:pt x="1227558" y="78992"/>
                  </a:cubicBezTo>
                  <a:lnTo>
                    <a:pt x="1227558" y="151665"/>
                  </a:lnTo>
                  <a:cubicBezTo>
                    <a:pt x="1227558" y="172615"/>
                    <a:pt x="1219236" y="192707"/>
                    <a:pt x="1204422" y="207521"/>
                  </a:cubicBezTo>
                  <a:cubicBezTo>
                    <a:pt x="1189608" y="222335"/>
                    <a:pt x="1169516" y="230657"/>
                    <a:pt x="1148566" y="230657"/>
                  </a:cubicBezTo>
                  <a:lnTo>
                    <a:pt x="78992" y="230657"/>
                  </a:lnTo>
                  <a:cubicBezTo>
                    <a:pt x="58042" y="230657"/>
                    <a:pt x="37950" y="222335"/>
                    <a:pt x="23136" y="207521"/>
                  </a:cubicBezTo>
                  <a:cubicBezTo>
                    <a:pt x="8322" y="192707"/>
                    <a:pt x="0" y="172615"/>
                    <a:pt x="0" y="151665"/>
                  </a:cubicBezTo>
                  <a:lnTo>
                    <a:pt x="0" y="78992"/>
                  </a:lnTo>
                  <a:cubicBezTo>
                    <a:pt x="0" y="58042"/>
                    <a:pt x="8322" y="37950"/>
                    <a:pt x="23136" y="23136"/>
                  </a:cubicBezTo>
                  <a:cubicBezTo>
                    <a:pt x="37950" y="8322"/>
                    <a:pt x="58042" y="0"/>
                    <a:pt x="789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227558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906767" indent="-453384" lvl="1">
                <a:lnSpc>
                  <a:spcPts val="5879"/>
                </a:lnSpc>
                <a:buAutoNum type="arabicPeriod" startAt="1"/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Data Cleaning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09199" y="5143500"/>
            <a:ext cx="4962166" cy="939209"/>
            <a:chOff x="0" y="0"/>
            <a:chExt cx="1218641" cy="230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8641" cy="230657"/>
            </a:xfrm>
            <a:custGeom>
              <a:avLst/>
              <a:gdLst/>
              <a:ahLst/>
              <a:cxnLst/>
              <a:rect r="r" b="b" t="t" l="l"/>
              <a:pathLst>
                <a:path h="230657" w="1218641">
                  <a:moveTo>
                    <a:pt x="79570" y="0"/>
                  </a:moveTo>
                  <a:lnTo>
                    <a:pt x="1139071" y="0"/>
                  </a:lnTo>
                  <a:cubicBezTo>
                    <a:pt x="1183016" y="0"/>
                    <a:pt x="1218641" y="35625"/>
                    <a:pt x="1218641" y="79570"/>
                  </a:cubicBezTo>
                  <a:lnTo>
                    <a:pt x="1218641" y="151087"/>
                  </a:lnTo>
                  <a:cubicBezTo>
                    <a:pt x="1218641" y="195032"/>
                    <a:pt x="1183016" y="230657"/>
                    <a:pt x="1139071" y="230657"/>
                  </a:cubicBezTo>
                  <a:lnTo>
                    <a:pt x="79570" y="230657"/>
                  </a:lnTo>
                  <a:cubicBezTo>
                    <a:pt x="35625" y="230657"/>
                    <a:pt x="0" y="195032"/>
                    <a:pt x="0" y="151087"/>
                  </a:cubicBezTo>
                  <a:lnTo>
                    <a:pt x="0" y="79570"/>
                  </a:lnTo>
                  <a:cubicBezTo>
                    <a:pt x="0" y="35625"/>
                    <a:pt x="35625" y="0"/>
                    <a:pt x="795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218641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906767" indent="-453384" lvl="1">
                <a:lnSpc>
                  <a:spcPts val="5879"/>
                </a:lnSpc>
                <a:buAutoNum type="arabicPeriod" startAt="1"/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Data Processing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72890" y="6768509"/>
            <a:ext cx="4998476" cy="939209"/>
            <a:chOff x="0" y="0"/>
            <a:chExt cx="1227558" cy="2306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7558" cy="230657"/>
            </a:xfrm>
            <a:custGeom>
              <a:avLst/>
              <a:gdLst/>
              <a:ahLst/>
              <a:cxnLst/>
              <a:rect r="r" b="b" t="t" l="l"/>
              <a:pathLst>
                <a:path h="230657" w="1227558">
                  <a:moveTo>
                    <a:pt x="78992" y="0"/>
                  </a:moveTo>
                  <a:lnTo>
                    <a:pt x="1148566" y="0"/>
                  </a:lnTo>
                  <a:cubicBezTo>
                    <a:pt x="1192192" y="0"/>
                    <a:pt x="1227558" y="35366"/>
                    <a:pt x="1227558" y="78992"/>
                  </a:cubicBezTo>
                  <a:lnTo>
                    <a:pt x="1227558" y="151665"/>
                  </a:lnTo>
                  <a:cubicBezTo>
                    <a:pt x="1227558" y="172615"/>
                    <a:pt x="1219236" y="192707"/>
                    <a:pt x="1204422" y="207521"/>
                  </a:cubicBezTo>
                  <a:cubicBezTo>
                    <a:pt x="1189608" y="222335"/>
                    <a:pt x="1169516" y="230657"/>
                    <a:pt x="1148566" y="230657"/>
                  </a:cubicBezTo>
                  <a:lnTo>
                    <a:pt x="78992" y="230657"/>
                  </a:lnTo>
                  <a:cubicBezTo>
                    <a:pt x="58042" y="230657"/>
                    <a:pt x="37950" y="222335"/>
                    <a:pt x="23136" y="207521"/>
                  </a:cubicBezTo>
                  <a:cubicBezTo>
                    <a:pt x="8322" y="192707"/>
                    <a:pt x="0" y="172615"/>
                    <a:pt x="0" y="151665"/>
                  </a:cubicBezTo>
                  <a:lnTo>
                    <a:pt x="0" y="78992"/>
                  </a:lnTo>
                  <a:cubicBezTo>
                    <a:pt x="0" y="58042"/>
                    <a:pt x="8322" y="37950"/>
                    <a:pt x="23136" y="23136"/>
                  </a:cubicBezTo>
                  <a:cubicBezTo>
                    <a:pt x="37950" y="8322"/>
                    <a:pt x="58042" y="0"/>
                    <a:pt x="789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227558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906767" indent="-453384" lvl="1">
                <a:lnSpc>
                  <a:spcPts val="5879"/>
                </a:lnSpc>
                <a:buAutoNum type="arabicPeriod" startAt="1"/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Data Analysis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72890" y="8393518"/>
            <a:ext cx="4998476" cy="939209"/>
            <a:chOff x="0" y="0"/>
            <a:chExt cx="1227558" cy="2306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27558" cy="230657"/>
            </a:xfrm>
            <a:custGeom>
              <a:avLst/>
              <a:gdLst/>
              <a:ahLst/>
              <a:cxnLst/>
              <a:rect r="r" b="b" t="t" l="l"/>
              <a:pathLst>
                <a:path h="230657" w="1227558">
                  <a:moveTo>
                    <a:pt x="78992" y="0"/>
                  </a:moveTo>
                  <a:lnTo>
                    <a:pt x="1148566" y="0"/>
                  </a:lnTo>
                  <a:cubicBezTo>
                    <a:pt x="1192192" y="0"/>
                    <a:pt x="1227558" y="35366"/>
                    <a:pt x="1227558" y="78992"/>
                  </a:cubicBezTo>
                  <a:lnTo>
                    <a:pt x="1227558" y="151665"/>
                  </a:lnTo>
                  <a:cubicBezTo>
                    <a:pt x="1227558" y="172615"/>
                    <a:pt x="1219236" y="192707"/>
                    <a:pt x="1204422" y="207521"/>
                  </a:cubicBezTo>
                  <a:cubicBezTo>
                    <a:pt x="1189608" y="222335"/>
                    <a:pt x="1169516" y="230657"/>
                    <a:pt x="1148566" y="230657"/>
                  </a:cubicBezTo>
                  <a:lnTo>
                    <a:pt x="78992" y="230657"/>
                  </a:lnTo>
                  <a:cubicBezTo>
                    <a:pt x="58042" y="230657"/>
                    <a:pt x="37950" y="222335"/>
                    <a:pt x="23136" y="207521"/>
                  </a:cubicBezTo>
                  <a:cubicBezTo>
                    <a:pt x="8322" y="192707"/>
                    <a:pt x="0" y="172615"/>
                    <a:pt x="0" y="151665"/>
                  </a:cubicBezTo>
                  <a:lnTo>
                    <a:pt x="0" y="78992"/>
                  </a:lnTo>
                  <a:cubicBezTo>
                    <a:pt x="0" y="58042"/>
                    <a:pt x="8322" y="37950"/>
                    <a:pt x="23136" y="23136"/>
                  </a:cubicBezTo>
                  <a:cubicBezTo>
                    <a:pt x="37950" y="8322"/>
                    <a:pt x="58042" y="0"/>
                    <a:pt x="789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227558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906767" indent="-453384" lvl="1">
                <a:lnSpc>
                  <a:spcPts val="5879"/>
                </a:lnSpc>
                <a:buAutoNum type="arabicPeriod" startAt="1"/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Data Visualization 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349462" y="1476717"/>
            <a:ext cx="10187029" cy="172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METHODOLOGY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393494" y="1478995"/>
            <a:ext cx="947379" cy="1175009"/>
          </a:xfrm>
          <a:custGeom>
            <a:avLst/>
            <a:gdLst/>
            <a:ahLst/>
            <a:cxnLst/>
            <a:rect r="r" b="b" t="t" l="l"/>
            <a:pathLst>
              <a:path h="1175009" w="947379">
                <a:moveTo>
                  <a:pt x="0" y="0"/>
                </a:moveTo>
                <a:lnTo>
                  <a:pt x="947379" y="0"/>
                </a:lnTo>
                <a:lnTo>
                  <a:pt x="947379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204485" y="1686267"/>
            <a:ext cx="947379" cy="1175009"/>
          </a:xfrm>
          <a:custGeom>
            <a:avLst/>
            <a:gdLst/>
            <a:ahLst/>
            <a:cxnLst/>
            <a:rect r="r" b="b" t="t" l="l"/>
            <a:pathLst>
              <a:path h="1175009" w="947379">
                <a:moveTo>
                  <a:pt x="0" y="0"/>
                </a:moveTo>
                <a:lnTo>
                  <a:pt x="947379" y="0"/>
                </a:lnTo>
                <a:lnTo>
                  <a:pt x="947379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B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12523" y="4762996"/>
            <a:ext cx="13880675" cy="4126879"/>
            <a:chOff x="0" y="0"/>
            <a:chExt cx="4495260" cy="13364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5259" cy="1336491"/>
            </a:xfrm>
            <a:custGeom>
              <a:avLst/>
              <a:gdLst/>
              <a:ahLst/>
              <a:cxnLst/>
              <a:rect r="r" b="b" t="t" l="l"/>
              <a:pathLst>
                <a:path h="1336491" w="4495259">
                  <a:moveTo>
                    <a:pt x="28445" y="0"/>
                  </a:moveTo>
                  <a:lnTo>
                    <a:pt x="4466814" y="0"/>
                  </a:lnTo>
                  <a:cubicBezTo>
                    <a:pt x="4474358" y="0"/>
                    <a:pt x="4481594" y="2997"/>
                    <a:pt x="4486928" y="8331"/>
                  </a:cubicBezTo>
                  <a:cubicBezTo>
                    <a:pt x="4492263" y="13666"/>
                    <a:pt x="4495259" y="20901"/>
                    <a:pt x="4495259" y="28445"/>
                  </a:cubicBezTo>
                  <a:lnTo>
                    <a:pt x="4495259" y="1308045"/>
                  </a:lnTo>
                  <a:cubicBezTo>
                    <a:pt x="4495259" y="1323755"/>
                    <a:pt x="4482524" y="1336491"/>
                    <a:pt x="4466814" y="1336491"/>
                  </a:cubicBezTo>
                  <a:lnTo>
                    <a:pt x="28445" y="1336491"/>
                  </a:lnTo>
                  <a:cubicBezTo>
                    <a:pt x="20901" y="1336491"/>
                    <a:pt x="13666" y="1333494"/>
                    <a:pt x="8331" y="1328159"/>
                  </a:cubicBezTo>
                  <a:cubicBezTo>
                    <a:pt x="2997" y="1322825"/>
                    <a:pt x="0" y="1315590"/>
                    <a:pt x="0" y="1308045"/>
                  </a:cubicBezTo>
                  <a:lnTo>
                    <a:pt x="0" y="28445"/>
                  </a:lnTo>
                  <a:cubicBezTo>
                    <a:pt x="0" y="20901"/>
                    <a:pt x="2997" y="13666"/>
                    <a:pt x="8331" y="8331"/>
                  </a:cubicBezTo>
                  <a:cubicBezTo>
                    <a:pt x="13666" y="2997"/>
                    <a:pt x="20901" y="0"/>
                    <a:pt x="2844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495260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6198" y="1587246"/>
            <a:ext cx="1589320" cy="1831524"/>
          </a:xfrm>
          <a:custGeom>
            <a:avLst/>
            <a:gdLst/>
            <a:ahLst/>
            <a:cxnLst/>
            <a:rect r="r" b="b" t="t" l="l"/>
            <a:pathLst>
              <a:path h="1831524" w="1589320">
                <a:moveTo>
                  <a:pt x="0" y="0"/>
                </a:moveTo>
                <a:lnTo>
                  <a:pt x="1589320" y="0"/>
                </a:lnTo>
                <a:lnTo>
                  <a:pt x="1589320" y="1831525"/>
                </a:lnTo>
                <a:lnTo>
                  <a:pt x="0" y="1831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6198" y="1396746"/>
            <a:ext cx="16701872" cy="160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20"/>
              </a:lnSpc>
              <a:spcBef>
                <a:spcPct val="0"/>
              </a:spcBef>
            </a:pPr>
            <a:r>
              <a:rPr lang="en-US" sz="9300" spc="1413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KPI CARDS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73558" y="5274126"/>
            <a:ext cx="11619707" cy="31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068" indent="-474534" lvl="1">
              <a:lnSpc>
                <a:spcPts val="6154"/>
              </a:lnSpc>
              <a:buFont typeface="Arial"/>
              <a:buChar char="•"/>
            </a:pP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Total Customers:</a:t>
            </a:r>
            <a:r>
              <a:rPr lang="en-US" b="true" sz="4395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1026</a:t>
            </a:r>
          </a:p>
          <a:p>
            <a:pPr algn="l" marL="949068" indent="-474534" lvl="1">
              <a:lnSpc>
                <a:spcPts val="6154"/>
              </a:lnSpc>
              <a:buFont typeface="Arial"/>
              <a:buChar char="•"/>
            </a:pP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Tot</a:t>
            </a: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al Buyers: </a:t>
            </a:r>
            <a:r>
              <a:rPr lang="en-US" b="true" sz="4395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495</a:t>
            </a:r>
          </a:p>
          <a:p>
            <a:pPr algn="l" marL="949068" indent="-474534" lvl="1">
              <a:lnSpc>
                <a:spcPts val="6154"/>
              </a:lnSpc>
              <a:buFont typeface="Arial"/>
              <a:buChar char="•"/>
            </a:pP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Conversion Rate: </a:t>
            </a:r>
            <a:r>
              <a:rPr lang="en-US" b="true" sz="4395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48%</a:t>
            </a:r>
          </a:p>
          <a:p>
            <a:pPr algn="l" marL="949068" indent="-474534" lvl="1">
              <a:lnSpc>
                <a:spcPts val="6154"/>
              </a:lnSpc>
              <a:buFont typeface="Arial"/>
              <a:buChar char="•"/>
            </a:pP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Gender Split: Male </a:t>
            </a:r>
            <a:r>
              <a:rPr lang="en-US" b="true" sz="4395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51%</a:t>
            </a: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, Fe</a:t>
            </a: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male </a:t>
            </a:r>
            <a:r>
              <a:rPr lang="en-US" b="true" sz="4395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49%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B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4802" y="4762996"/>
            <a:ext cx="6230670" cy="4126879"/>
            <a:chOff x="0" y="0"/>
            <a:chExt cx="2017804" cy="1336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7804" cy="1336491"/>
            </a:xfrm>
            <a:custGeom>
              <a:avLst/>
              <a:gdLst/>
              <a:ahLst/>
              <a:cxnLst/>
              <a:rect r="r" b="b" t="t" l="l"/>
              <a:pathLst>
                <a:path h="1336491" w="2017804">
                  <a:moveTo>
                    <a:pt x="63370" y="0"/>
                  </a:moveTo>
                  <a:lnTo>
                    <a:pt x="1954434" y="0"/>
                  </a:lnTo>
                  <a:cubicBezTo>
                    <a:pt x="1971241" y="0"/>
                    <a:pt x="1987359" y="6676"/>
                    <a:pt x="1999243" y="18561"/>
                  </a:cubicBezTo>
                  <a:cubicBezTo>
                    <a:pt x="2011127" y="30445"/>
                    <a:pt x="2017804" y="46563"/>
                    <a:pt x="2017804" y="63370"/>
                  </a:cubicBezTo>
                  <a:lnTo>
                    <a:pt x="2017804" y="1273121"/>
                  </a:lnTo>
                  <a:cubicBezTo>
                    <a:pt x="2017804" y="1308119"/>
                    <a:pt x="1989432" y="1336491"/>
                    <a:pt x="1954434" y="1336491"/>
                  </a:cubicBezTo>
                  <a:lnTo>
                    <a:pt x="63370" y="1336491"/>
                  </a:lnTo>
                  <a:cubicBezTo>
                    <a:pt x="46563" y="1336491"/>
                    <a:pt x="30445" y="1329814"/>
                    <a:pt x="18561" y="1317930"/>
                  </a:cubicBezTo>
                  <a:cubicBezTo>
                    <a:pt x="6676" y="1306046"/>
                    <a:pt x="0" y="1289927"/>
                    <a:pt x="0" y="1273121"/>
                  </a:cubicBezTo>
                  <a:lnTo>
                    <a:pt x="0" y="63370"/>
                  </a:lnTo>
                  <a:cubicBezTo>
                    <a:pt x="0" y="46563"/>
                    <a:pt x="6676" y="30445"/>
                    <a:pt x="18561" y="18561"/>
                  </a:cubicBezTo>
                  <a:cubicBezTo>
                    <a:pt x="30445" y="6676"/>
                    <a:pt x="46563" y="0"/>
                    <a:pt x="633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017804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10138" y="3203917"/>
            <a:ext cx="9156078" cy="939209"/>
            <a:chOff x="0" y="0"/>
            <a:chExt cx="2248609" cy="230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Donut Chart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06727" y="4762996"/>
            <a:ext cx="8186470" cy="4126879"/>
            <a:chOff x="0" y="0"/>
            <a:chExt cx="2651190" cy="13364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51190" cy="1336491"/>
            </a:xfrm>
            <a:custGeom>
              <a:avLst/>
              <a:gdLst/>
              <a:ahLst/>
              <a:cxnLst/>
              <a:rect r="r" b="b" t="t" l="l"/>
              <a:pathLst>
                <a:path h="1336491" w="2651190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561865" y="5373637"/>
            <a:ext cx="4696545" cy="2905596"/>
          </a:xfrm>
          <a:custGeom>
            <a:avLst/>
            <a:gdLst/>
            <a:ahLst/>
            <a:cxnLst/>
            <a:rect r="r" b="b" t="t" l="l"/>
            <a:pathLst>
              <a:path h="2905596" w="4696545">
                <a:moveTo>
                  <a:pt x="0" y="0"/>
                </a:moveTo>
                <a:lnTo>
                  <a:pt x="4696545" y="0"/>
                </a:lnTo>
                <a:lnTo>
                  <a:pt x="4696545" y="2905596"/>
                </a:lnTo>
                <a:lnTo>
                  <a:pt x="0" y="2905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799258" y="5596238"/>
            <a:ext cx="4696545" cy="2460394"/>
          </a:xfrm>
          <a:custGeom>
            <a:avLst/>
            <a:gdLst/>
            <a:ahLst/>
            <a:cxnLst/>
            <a:rect r="r" b="b" t="t" l="l"/>
            <a:pathLst>
              <a:path h="2460394" w="4696545">
                <a:moveTo>
                  <a:pt x="0" y="0"/>
                </a:moveTo>
                <a:lnTo>
                  <a:pt x="4696546" y="0"/>
                </a:lnTo>
                <a:lnTo>
                  <a:pt x="4696546" y="2460394"/>
                </a:lnTo>
                <a:lnTo>
                  <a:pt x="0" y="2460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44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916732" y="6419532"/>
            <a:ext cx="1785611" cy="907686"/>
          </a:xfrm>
          <a:custGeom>
            <a:avLst/>
            <a:gdLst/>
            <a:ahLst/>
            <a:cxnLst/>
            <a:rect r="r" b="b" t="t" l="l"/>
            <a:pathLst>
              <a:path h="907686" w="1785611">
                <a:moveTo>
                  <a:pt x="0" y="0"/>
                </a:moveTo>
                <a:lnTo>
                  <a:pt x="1785611" y="0"/>
                </a:lnTo>
                <a:lnTo>
                  <a:pt x="1785611" y="907686"/>
                </a:lnTo>
                <a:lnTo>
                  <a:pt x="0" y="907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561865" y="6466472"/>
            <a:ext cx="1538603" cy="813806"/>
          </a:xfrm>
          <a:custGeom>
            <a:avLst/>
            <a:gdLst/>
            <a:ahLst/>
            <a:cxnLst/>
            <a:rect r="r" b="b" t="t" l="l"/>
            <a:pathLst>
              <a:path h="813806" w="1538603">
                <a:moveTo>
                  <a:pt x="0" y="0"/>
                </a:moveTo>
                <a:lnTo>
                  <a:pt x="1538603" y="0"/>
                </a:lnTo>
                <a:lnTo>
                  <a:pt x="1538603" y="813806"/>
                </a:lnTo>
                <a:lnTo>
                  <a:pt x="0" y="8138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46198" y="1430309"/>
            <a:ext cx="1589320" cy="1831524"/>
          </a:xfrm>
          <a:custGeom>
            <a:avLst/>
            <a:gdLst/>
            <a:ahLst/>
            <a:cxnLst/>
            <a:rect r="r" b="b" t="t" l="l"/>
            <a:pathLst>
              <a:path h="1831524" w="1589320">
                <a:moveTo>
                  <a:pt x="0" y="0"/>
                </a:moveTo>
                <a:lnTo>
                  <a:pt x="1589320" y="0"/>
                </a:lnTo>
                <a:lnTo>
                  <a:pt x="1589320" y="1831525"/>
                </a:lnTo>
                <a:lnTo>
                  <a:pt x="0" y="1831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93064" y="1498664"/>
            <a:ext cx="16701872" cy="1087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  <a:spcBef>
                <a:spcPct val="0"/>
              </a:spcBef>
            </a:pPr>
            <a:r>
              <a:rPr lang="en-US" sz="6300" spc="957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BUYER VS NON-BUYER ANALYSIS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07691" y="5908808"/>
            <a:ext cx="6296132" cy="174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8605" indent="-539303" lvl="1">
              <a:lnSpc>
                <a:spcPts val="6994"/>
              </a:lnSpc>
              <a:buFont typeface="Arial"/>
              <a:buChar char="•"/>
            </a:pPr>
            <a:r>
              <a:rPr lang="en-US" sz="49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Buyers:</a:t>
            </a:r>
            <a:r>
              <a:rPr lang="en-US" sz="49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49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48%</a:t>
            </a:r>
          </a:p>
          <a:p>
            <a:pPr algn="l" marL="1078605" indent="-539303" lvl="1">
              <a:lnSpc>
                <a:spcPts val="6994"/>
              </a:lnSpc>
              <a:buFont typeface="Arial"/>
              <a:buChar char="•"/>
            </a:pPr>
            <a:r>
              <a:rPr lang="en-US" sz="49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Non-</a:t>
            </a:r>
            <a:r>
              <a:rPr lang="en-US" sz="49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Buyers: </a:t>
            </a:r>
            <a:r>
              <a:rPr lang="en-US" sz="49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5</a:t>
            </a:r>
            <a:r>
              <a:rPr lang="en-US" sz="49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2</a:t>
            </a:r>
            <a:r>
              <a:rPr lang="en-US" sz="49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%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B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4802" y="4762996"/>
            <a:ext cx="6230670" cy="4126879"/>
            <a:chOff x="0" y="0"/>
            <a:chExt cx="2017804" cy="1336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7804" cy="1336491"/>
            </a:xfrm>
            <a:custGeom>
              <a:avLst/>
              <a:gdLst/>
              <a:ahLst/>
              <a:cxnLst/>
              <a:rect r="r" b="b" t="t" l="l"/>
              <a:pathLst>
                <a:path h="1336491" w="2017804">
                  <a:moveTo>
                    <a:pt x="63370" y="0"/>
                  </a:moveTo>
                  <a:lnTo>
                    <a:pt x="1954434" y="0"/>
                  </a:lnTo>
                  <a:cubicBezTo>
                    <a:pt x="1971241" y="0"/>
                    <a:pt x="1987359" y="6676"/>
                    <a:pt x="1999243" y="18561"/>
                  </a:cubicBezTo>
                  <a:cubicBezTo>
                    <a:pt x="2011127" y="30445"/>
                    <a:pt x="2017804" y="46563"/>
                    <a:pt x="2017804" y="63370"/>
                  </a:cubicBezTo>
                  <a:lnTo>
                    <a:pt x="2017804" y="1273121"/>
                  </a:lnTo>
                  <a:cubicBezTo>
                    <a:pt x="2017804" y="1308119"/>
                    <a:pt x="1989432" y="1336491"/>
                    <a:pt x="1954434" y="1336491"/>
                  </a:cubicBezTo>
                  <a:lnTo>
                    <a:pt x="63370" y="1336491"/>
                  </a:lnTo>
                  <a:cubicBezTo>
                    <a:pt x="46563" y="1336491"/>
                    <a:pt x="30445" y="1329814"/>
                    <a:pt x="18561" y="1317930"/>
                  </a:cubicBezTo>
                  <a:cubicBezTo>
                    <a:pt x="6676" y="1306046"/>
                    <a:pt x="0" y="1289927"/>
                    <a:pt x="0" y="1273121"/>
                  </a:cubicBezTo>
                  <a:lnTo>
                    <a:pt x="0" y="63370"/>
                  </a:lnTo>
                  <a:cubicBezTo>
                    <a:pt x="0" y="46563"/>
                    <a:pt x="6676" y="30445"/>
                    <a:pt x="18561" y="18561"/>
                  </a:cubicBezTo>
                  <a:cubicBezTo>
                    <a:pt x="30445" y="6676"/>
                    <a:pt x="46563" y="0"/>
                    <a:pt x="633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017804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65961" y="3203917"/>
            <a:ext cx="9156078" cy="939209"/>
            <a:chOff x="0" y="0"/>
            <a:chExt cx="2248609" cy="230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Donut Chart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06727" y="4762996"/>
            <a:ext cx="8186470" cy="4126879"/>
            <a:chOff x="0" y="0"/>
            <a:chExt cx="2651190" cy="13364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51190" cy="1336491"/>
            </a:xfrm>
            <a:custGeom>
              <a:avLst/>
              <a:gdLst/>
              <a:ahLst/>
              <a:cxnLst/>
              <a:rect r="r" b="b" t="t" l="l"/>
              <a:pathLst>
                <a:path h="1336491" w="2651190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916732" y="6419532"/>
            <a:ext cx="1785611" cy="907686"/>
          </a:xfrm>
          <a:custGeom>
            <a:avLst/>
            <a:gdLst/>
            <a:ahLst/>
            <a:cxnLst/>
            <a:rect r="r" b="b" t="t" l="l"/>
            <a:pathLst>
              <a:path h="907686" w="1785611">
                <a:moveTo>
                  <a:pt x="0" y="0"/>
                </a:moveTo>
                <a:lnTo>
                  <a:pt x="1785611" y="0"/>
                </a:lnTo>
                <a:lnTo>
                  <a:pt x="1785611" y="907686"/>
                </a:lnTo>
                <a:lnTo>
                  <a:pt x="0" y="907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561865" y="6466472"/>
            <a:ext cx="1538603" cy="813806"/>
          </a:xfrm>
          <a:custGeom>
            <a:avLst/>
            <a:gdLst/>
            <a:ahLst/>
            <a:cxnLst/>
            <a:rect r="r" b="b" t="t" l="l"/>
            <a:pathLst>
              <a:path h="813806" w="1538603">
                <a:moveTo>
                  <a:pt x="0" y="0"/>
                </a:moveTo>
                <a:lnTo>
                  <a:pt x="1538603" y="0"/>
                </a:lnTo>
                <a:lnTo>
                  <a:pt x="1538603" y="813806"/>
                </a:lnTo>
                <a:lnTo>
                  <a:pt x="0" y="813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041660" y="5565811"/>
            <a:ext cx="5736955" cy="2995028"/>
          </a:xfrm>
          <a:custGeom>
            <a:avLst/>
            <a:gdLst/>
            <a:ahLst/>
            <a:cxnLst/>
            <a:rect r="r" b="b" t="t" l="l"/>
            <a:pathLst>
              <a:path h="2995028" w="5736955">
                <a:moveTo>
                  <a:pt x="0" y="0"/>
                </a:moveTo>
                <a:lnTo>
                  <a:pt x="5736955" y="0"/>
                </a:lnTo>
                <a:lnTo>
                  <a:pt x="5736955" y="2995028"/>
                </a:lnTo>
                <a:lnTo>
                  <a:pt x="0" y="2995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46198" y="1434846"/>
            <a:ext cx="16701872" cy="119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  <a:spcBef>
                <a:spcPct val="0"/>
              </a:spcBef>
            </a:pPr>
            <a:r>
              <a:rPr lang="en-US" sz="6900" spc="104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MALE VS FEMALE BUYERS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76819" y="5032508"/>
            <a:ext cx="7646287" cy="313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0658" indent="-485329" lvl="1">
              <a:lnSpc>
                <a:spcPts val="6294"/>
              </a:lnSpc>
              <a:buFont typeface="Arial"/>
              <a:buChar char="•"/>
            </a:pP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Male buyers:</a:t>
            </a: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51</a:t>
            </a: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%</a:t>
            </a:r>
          </a:p>
          <a:p>
            <a:pPr algn="l" marL="970658" indent="-485329" lvl="1">
              <a:lnSpc>
                <a:spcPts val="6294"/>
              </a:lnSpc>
              <a:buFont typeface="Arial"/>
              <a:buChar char="•"/>
            </a:pP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Female b</a:t>
            </a: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uyers: 49</a:t>
            </a: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%</a:t>
            </a:r>
          </a:p>
          <a:p>
            <a:pPr algn="l">
              <a:lnSpc>
                <a:spcPts val="6294"/>
              </a:lnSpc>
            </a:pP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Hence, Gender split is almost equal.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47000" y="1430309"/>
            <a:ext cx="1589320" cy="1831524"/>
          </a:xfrm>
          <a:custGeom>
            <a:avLst/>
            <a:gdLst/>
            <a:ahLst/>
            <a:cxnLst/>
            <a:rect r="r" b="b" t="t" l="l"/>
            <a:pathLst>
              <a:path h="1831524" w="1589320">
                <a:moveTo>
                  <a:pt x="0" y="0"/>
                </a:moveTo>
                <a:lnTo>
                  <a:pt x="1589320" y="0"/>
                </a:lnTo>
                <a:lnTo>
                  <a:pt x="1589320" y="1831525"/>
                </a:lnTo>
                <a:lnTo>
                  <a:pt x="0" y="1831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B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4802" y="4762996"/>
            <a:ext cx="6230670" cy="4126879"/>
            <a:chOff x="0" y="0"/>
            <a:chExt cx="2017804" cy="1336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7804" cy="1336491"/>
            </a:xfrm>
            <a:custGeom>
              <a:avLst/>
              <a:gdLst/>
              <a:ahLst/>
              <a:cxnLst/>
              <a:rect r="r" b="b" t="t" l="l"/>
              <a:pathLst>
                <a:path h="1336491" w="2017804">
                  <a:moveTo>
                    <a:pt x="63370" y="0"/>
                  </a:moveTo>
                  <a:lnTo>
                    <a:pt x="1954434" y="0"/>
                  </a:lnTo>
                  <a:cubicBezTo>
                    <a:pt x="1971241" y="0"/>
                    <a:pt x="1987359" y="6676"/>
                    <a:pt x="1999243" y="18561"/>
                  </a:cubicBezTo>
                  <a:cubicBezTo>
                    <a:pt x="2011127" y="30445"/>
                    <a:pt x="2017804" y="46563"/>
                    <a:pt x="2017804" y="63370"/>
                  </a:cubicBezTo>
                  <a:lnTo>
                    <a:pt x="2017804" y="1273121"/>
                  </a:lnTo>
                  <a:cubicBezTo>
                    <a:pt x="2017804" y="1308119"/>
                    <a:pt x="1989432" y="1336491"/>
                    <a:pt x="1954434" y="1336491"/>
                  </a:cubicBezTo>
                  <a:lnTo>
                    <a:pt x="63370" y="1336491"/>
                  </a:lnTo>
                  <a:cubicBezTo>
                    <a:pt x="46563" y="1336491"/>
                    <a:pt x="30445" y="1329814"/>
                    <a:pt x="18561" y="1317930"/>
                  </a:cubicBezTo>
                  <a:cubicBezTo>
                    <a:pt x="6676" y="1306046"/>
                    <a:pt x="0" y="1289927"/>
                    <a:pt x="0" y="1273121"/>
                  </a:cubicBezTo>
                  <a:lnTo>
                    <a:pt x="0" y="63370"/>
                  </a:lnTo>
                  <a:cubicBezTo>
                    <a:pt x="0" y="46563"/>
                    <a:pt x="6676" y="30445"/>
                    <a:pt x="18561" y="18561"/>
                  </a:cubicBezTo>
                  <a:cubicBezTo>
                    <a:pt x="30445" y="6676"/>
                    <a:pt x="46563" y="0"/>
                    <a:pt x="633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017804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65961" y="3203917"/>
            <a:ext cx="9156078" cy="939209"/>
            <a:chOff x="0" y="0"/>
            <a:chExt cx="2248609" cy="230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Pie Chart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06727" y="4762996"/>
            <a:ext cx="8186470" cy="4126879"/>
            <a:chOff x="0" y="0"/>
            <a:chExt cx="2651190" cy="13364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51190" cy="1336491"/>
            </a:xfrm>
            <a:custGeom>
              <a:avLst/>
              <a:gdLst/>
              <a:ahLst/>
              <a:cxnLst/>
              <a:rect r="r" b="b" t="t" l="l"/>
              <a:pathLst>
                <a:path h="1336491" w="2651190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916732" y="6419532"/>
            <a:ext cx="1785611" cy="907686"/>
          </a:xfrm>
          <a:custGeom>
            <a:avLst/>
            <a:gdLst/>
            <a:ahLst/>
            <a:cxnLst/>
            <a:rect r="r" b="b" t="t" l="l"/>
            <a:pathLst>
              <a:path h="907686" w="1785611">
                <a:moveTo>
                  <a:pt x="0" y="0"/>
                </a:moveTo>
                <a:lnTo>
                  <a:pt x="1785611" y="0"/>
                </a:lnTo>
                <a:lnTo>
                  <a:pt x="1785611" y="907686"/>
                </a:lnTo>
                <a:lnTo>
                  <a:pt x="0" y="907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561865" y="6466472"/>
            <a:ext cx="1538603" cy="813806"/>
          </a:xfrm>
          <a:custGeom>
            <a:avLst/>
            <a:gdLst/>
            <a:ahLst/>
            <a:cxnLst/>
            <a:rect r="r" b="b" t="t" l="l"/>
            <a:pathLst>
              <a:path h="813806" w="1538603">
                <a:moveTo>
                  <a:pt x="0" y="0"/>
                </a:moveTo>
                <a:lnTo>
                  <a:pt x="1538603" y="0"/>
                </a:lnTo>
                <a:lnTo>
                  <a:pt x="1538603" y="813806"/>
                </a:lnTo>
                <a:lnTo>
                  <a:pt x="0" y="813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94802" y="5079360"/>
            <a:ext cx="6230670" cy="3494151"/>
          </a:xfrm>
          <a:custGeom>
            <a:avLst/>
            <a:gdLst/>
            <a:ahLst/>
            <a:cxnLst/>
            <a:rect r="r" b="b" t="t" l="l"/>
            <a:pathLst>
              <a:path h="3494151" w="6230670">
                <a:moveTo>
                  <a:pt x="0" y="0"/>
                </a:moveTo>
                <a:lnTo>
                  <a:pt x="6230671" y="0"/>
                </a:lnTo>
                <a:lnTo>
                  <a:pt x="6230671" y="3494151"/>
                </a:lnTo>
                <a:lnTo>
                  <a:pt x="0" y="3494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56754" y="1743782"/>
            <a:ext cx="16701872" cy="107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spc="942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HOME OWNERSHIP VS PURCHASE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5032508"/>
            <a:ext cx="7108457" cy="403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0658" indent="-485329" lvl="1">
              <a:lnSpc>
                <a:spcPts val="6294"/>
              </a:lnSpc>
              <a:buFont typeface="Arial"/>
              <a:buChar char="•"/>
            </a:pP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Homeowners b</a:t>
            </a: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uying: 68</a:t>
            </a: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%</a:t>
            </a:r>
          </a:p>
          <a:p>
            <a:pPr algn="l" marL="970658" indent="-485329" lvl="1">
              <a:lnSpc>
                <a:spcPts val="6294"/>
              </a:lnSpc>
              <a:buFont typeface="Arial"/>
              <a:buChar char="•"/>
            </a:pP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Renters buying: 32%</a:t>
            </a:r>
          </a:p>
          <a:p>
            <a:pPr algn="l">
              <a:lnSpc>
                <a:spcPts val="6294"/>
              </a:lnSpc>
            </a:pP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Hence, Homeowners have more financial stability.</a:t>
            </a:r>
          </a:p>
          <a:p>
            <a:pPr algn="l">
              <a:lnSpc>
                <a:spcPts val="7274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46198" y="1430309"/>
            <a:ext cx="1589320" cy="1831524"/>
          </a:xfrm>
          <a:custGeom>
            <a:avLst/>
            <a:gdLst/>
            <a:ahLst/>
            <a:cxnLst/>
            <a:rect r="r" b="b" t="t" l="l"/>
            <a:pathLst>
              <a:path h="1831524" w="1589320">
                <a:moveTo>
                  <a:pt x="0" y="0"/>
                </a:moveTo>
                <a:lnTo>
                  <a:pt x="1589320" y="0"/>
                </a:lnTo>
                <a:lnTo>
                  <a:pt x="1589320" y="1831525"/>
                </a:lnTo>
                <a:lnTo>
                  <a:pt x="0" y="1831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B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6324" y="4762996"/>
            <a:ext cx="7890191" cy="4126879"/>
            <a:chOff x="0" y="0"/>
            <a:chExt cx="2555240" cy="1336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5240" cy="1336491"/>
            </a:xfrm>
            <a:custGeom>
              <a:avLst/>
              <a:gdLst/>
              <a:ahLst/>
              <a:cxnLst/>
              <a:rect r="r" b="b" t="t" l="l"/>
              <a:pathLst>
                <a:path h="1336491" w="2555240">
                  <a:moveTo>
                    <a:pt x="50042" y="0"/>
                  </a:moveTo>
                  <a:lnTo>
                    <a:pt x="2505199" y="0"/>
                  </a:lnTo>
                  <a:cubicBezTo>
                    <a:pt x="2518471" y="0"/>
                    <a:pt x="2531199" y="5272"/>
                    <a:pt x="2540583" y="14657"/>
                  </a:cubicBezTo>
                  <a:cubicBezTo>
                    <a:pt x="2549968" y="24041"/>
                    <a:pt x="2555240" y="36770"/>
                    <a:pt x="2555240" y="50042"/>
                  </a:cubicBezTo>
                  <a:lnTo>
                    <a:pt x="2555240" y="1286449"/>
                  </a:lnTo>
                  <a:cubicBezTo>
                    <a:pt x="2555240" y="1314086"/>
                    <a:pt x="2532836" y="1336491"/>
                    <a:pt x="2505199" y="1336491"/>
                  </a:cubicBezTo>
                  <a:lnTo>
                    <a:pt x="50042" y="1336491"/>
                  </a:lnTo>
                  <a:cubicBezTo>
                    <a:pt x="36770" y="1336491"/>
                    <a:pt x="24041" y="1331218"/>
                    <a:pt x="14657" y="1321834"/>
                  </a:cubicBezTo>
                  <a:cubicBezTo>
                    <a:pt x="5272" y="1312449"/>
                    <a:pt x="0" y="1299721"/>
                    <a:pt x="0" y="1286449"/>
                  </a:cubicBezTo>
                  <a:lnTo>
                    <a:pt x="0" y="50042"/>
                  </a:lnTo>
                  <a:cubicBezTo>
                    <a:pt x="0" y="36770"/>
                    <a:pt x="5272" y="24041"/>
                    <a:pt x="14657" y="14657"/>
                  </a:cubicBezTo>
                  <a:cubicBezTo>
                    <a:pt x="24041" y="5272"/>
                    <a:pt x="36770" y="0"/>
                    <a:pt x="5004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555240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65961" y="3203917"/>
            <a:ext cx="9156078" cy="939209"/>
            <a:chOff x="0" y="0"/>
            <a:chExt cx="2248609" cy="230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Combo Chart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31584" y="4762996"/>
            <a:ext cx="8650580" cy="4126879"/>
            <a:chOff x="0" y="0"/>
            <a:chExt cx="2801492" cy="13364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01492" cy="1336491"/>
            </a:xfrm>
            <a:custGeom>
              <a:avLst/>
              <a:gdLst/>
              <a:ahLst/>
              <a:cxnLst/>
              <a:rect r="r" b="b" t="t" l="l"/>
              <a:pathLst>
                <a:path h="1336491" w="2801492">
                  <a:moveTo>
                    <a:pt x="45643" y="0"/>
                  </a:moveTo>
                  <a:lnTo>
                    <a:pt x="2755849" y="0"/>
                  </a:lnTo>
                  <a:cubicBezTo>
                    <a:pt x="2781057" y="0"/>
                    <a:pt x="2801492" y="20435"/>
                    <a:pt x="2801492" y="45643"/>
                  </a:cubicBezTo>
                  <a:lnTo>
                    <a:pt x="2801492" y="1290848"/>
                  </a:lnTo>
                  <a:cubicBezTo>
                    <a:pt x="2801492" y="1302953"/>
                    <a:pt x="2796683" y="1314562"/>
                    <a:pt x="2788123" y="1323122"/>
                  </a:cubicBezTo>
                  <a:cubicBezTo>
                    <a:pt x="2779564" y="1331682"/>
                    <a:pt x="2767954" y="1336491"/>
                    <a:pt x="2755849" y="1336491"/>
                  </a:cubicBezTo>
                  <a:lnTo>
                    <a:pt x="45643" y="1336491"/>
                  </a:lnTo>
                  <a:cubicBezTo>
                    <a:pt x="33538" y="1336491"/>
                    <a:pt x="21928" y="1331682"/>
                    <a:pt x="13369" y="1323122"/>
                  </a:cubicBezTo>
                  <a:cubicBezTo>
                    <a:pt x="4809" y="1314562"/>
                    <a:pt x="0" y="1302953"/>
                    <a:pt x="0" y="1290848"/>
                  </a:cubicBezTo>
                  <a:lnTo>
                    <a:pt x="0" y="45643"/>
                  </a:lnTo>
                  <a:cubicBezTo>
                    <a:pt x="0" y="33538"/>
                    <a:pt x="4809" y="21928"/>
                    <a:pt x="13369" y="13369"/>
                  </a:cubicBezTo>
                  <a:cubicBezTo>
                    <a:pt x="21928" y="4809"/>
                    <a:pt x="33538" y="0"/>
                    <a:pt x="4564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801492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916732" y="6419532"/>
            <a:ext cx="1785611" cy="907686"/>
          </a:xfrm>
          <a:custGeom>
            <a:avLst/>
            <a:gdLst/>
            <a:ahLst/>
            <a:cxnLst/>
            <a:rect r="r" b="b" t="t" l="l"/>
            <a:pathLst>
              <a:path h="907686" w="1785611">
                <a:moveTo>
                  <a:pt x="0" y="0"/>
                </a:moveTo>
                <a:lnTo>
                  <a:pt x="1785611" y="0"/>
                </a:lnTo>
                <a:lnTo>
                  <a:pt x="1785611" y="907686"/>
                </a:lnTo>
                <a:lnTo>
                  <a:pt x="0" y="907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561865" y="6466472"/>
            <a:ext cx="1538603" cy="813806"/>
          </a:xfrm>
          <a:custGeom>
            <a:avLst/>
            <a:gdLst/>
            <a:ahLst/>
            <a:cxnLst/>
            <a:rect r="r" b="b" t="t" l="l"/>
            <a:pathLst>
              <a:path h="813806" w="1538603">
                <a:moveTo>
                  <a:pt x="0" y="0"/>
                </a:moveTo>
                <a:lnTo>
                  <a:pt x="1538603" y="0"/>
                </a:lnTo>
                <a:lnTo>
                  <a:pt x="1538603" y="813806"/>
                </a:lnTo>
                <a:lnTo>
                  <a:pt x="0" y="813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37948" y="5288548"/>
            <a:ext cx="7767650" cy="3457090"/>
          </a:xfrm>
          <a:custGeom>
            <a:avLst/>
            <a:gdLst/>
            <a:ahLst/>
            <a:cxnLst/>
            <a:rect r="r" b="b" t="t" l="l"/>
            <a:pathLst>
              <a:path h="3457090" w="7767650">
                <a:moveTo>
                  <a:pt x="0" y="0"/>
                </a:moveTo>
                <a:lnTo>
                  <a:pt x="7767650" y="0"/>
                </a:lnTo>
                <a:lnTo>
                  <a:pt x="7767650" y="3457091"/>
                </a:lnTo>
                <a:lnTo>
                  <a:pt x="0" y="34570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1832365"/>
            <a:ext cx="17741802" cy="913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spc="805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COMMUTE DISTANCE VS INCOME VS PURCHASE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16515" y="5076825"/>
            <a:ext cx="8693790" cy="4050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1584" indent="-355792" lvl="1">
              <a:lnSpc>
                <a:spcPts val="4614"/>
              </a:lnSpc>
              <a:buFont typeface="Arial"/>
              <a:buChar char="•"/>
            </a:pPr>
            <a:r>
              <a:rPr lang="en-US" sz="32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High</a:t>
            </a:r>
            <a:r>
              <a:rPr lang="en-US" sz="32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est buyers are 0–1 miles commuters(in case of adult). and 5-10 miles (in case of seniors).</a:t>
            </a:r>
          </a:p>
          <a:p>
            <a:pPr algn="l" marL="711584" indent="-355792" lvl="1">
              <a:lnSpc>
                <a:spcPts val="4614"/>
              </a:lnSpc>
              <a:buFont typeface="Arial"/>
              <a:buChar char="•"/>
            </a:pPr>
            <a:r>
              <a:rPr lang="en-US" sz="32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Lowest bike purchase among 10+ miles commuters(in case of adult) and 2-5 miles(in case of senior).</a:t>
            </a:r>
          </a:p>
          <a:p>
            <a:pPr algn="l">
              <a:lnSpc>
                <a:spcPts val="4614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46198" y="1581452"/>
            <a:ext cx="1458165" cy="1680382"/>
          </a:xfrm>
          <a:custGeom>
            <a:avLst/>
            <a:gdLst/>
            <a:ahLst/>
            <a:cxnLst/>
            <a:rect r="r" b="b" t="t" l="l"/>
            <a:pathLst>
              <a:path h="1680382" w="1458165">
                <a:moveTo>
                  <a:pt x="0" y="0"/>
                </a:moveTo>
                <a:lnTo>
                  <a:pt x="1458166" y="0"/>
                </a:lnTo>
                <a:lnTo>
                  <a:pt x="1458166" y="1680382"/>
                </a:lnTo>
                <a:lnTo>
                  <a:pt x="0" y="16803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B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6324" y="4762996"/>
            <a:ext cx="7890191" cy="4126879"/>
            <a:chOff x="0" y="0"/>
            <a:chExt cx="2555240" cy="1336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5240" cy="1336491"/>
            </a:xfrm>
            <a:custGeom>
              <a:avLst/>
              <a:gdLst/>
              <a:ahLst/>
              <a:cxnLst/>
              <a:rect r="r" b="b" t="t" l="l"/>
              <a:pathLst>
                <a:path h="1336491" w="2555240">
                  <a:moveTo>
                    <a:pt x="50042" y="0"/>
                  </a:moveTo>
                  <a:lnTo>
                    <a:pt x="2505199" y="0"/>
                  </a:lnTo>
                  <a:cubicBezTo>
                    <a:pt x="2518471" y="0"/>
                    <a:pt x="2531199" y="5272"/>
                    <a:pt x="2540583" y="14657"/>
                  </a:cubicBezTo>
                  <a:cubicBezTo>
                    <a:pt x="2549968" y="24041"/>
                    <a:pt x="2555240" y="36770"/>
                    <a:pt x="2555240" y="50042"/>
                  </a:cubicBezTo>
                  <a:lnTo>
                    <a:pt x="2555240" y="1286449"/>
                  </a:lnTo>
                  <a:cubicBezTo>
                    <a:pt x="2555240" y="1314086"/>
                    <a:pt x="2532836" y="1336491"/>
                    <a:pt x="2505199" y="1336491"/>
                  </a:cubicBezTo>
                  <a:lnTo>
                    <a:pt x="50042" y="1336491"/>
                  </a:lnTo>
                  <a:cubicBezTo>
                    <a:pt x="36770" y="1336491"/>
                    <a:pt x="24041" y="1331218"/>
                    <a:pt x="14657" y="1321834"/>
                  </a:cubicBezTo>
                  <a:cubicBezTo>
                    <a:pt x="5272" y="1312449"/>
                    <a:pt x="0" y="1299721"/>
                    <a:pt x="0" y="1286449"/>
                  </a:cubicBezTo>
                  <a:lnTo>
                    <a:pt x="0" y="50042"/>
                  </a:lnTo>
                  <a:cubicBezTo>
                    <a:pt x="0" y="36770"/>
                    <a:pt x="5272" y="24041"/>
                    <a:pt x="14657" y="14657"/>
                  </a:cubicBezTo>
                  <a:cubicBezTo>
                    <a:pt x="24041" y="5272"/>
                    <a:pt x="36770" y="0"/>
                    <a:pt x="5004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555240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65961" y="3203917"/>
            <a:ext cx="9156078" cy="939209"/>
            <a:chOff x="0" y="0"/>
            <a:chExt cx="2248609" cy="230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Column Chart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31584" y="4762996"/>
            <a:ext cx="8650580" cy="4126879"/>
            <a:chOff x="0" y="0"/>
            <a:chExt cx="2801492" cy="13364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01492" cy="1336491"/>
            </a:xfrm>
            <a:custGeom>
              <a:avLst/>
              <a:gdLst/>
              <a:ahLst/>
              <a:cxnLst/>
              <a:rect r="r" b="b" t="t" l="l"/>
              <a:pathLst>
                <a:path h="1336491" w="2801492">
                  <a:moveTo>
                    <a:pt x="45643" y="0"/>
                  </a:moveTo>
                  <a:lnTo>
                    <a:pt x="2755849" y="0"/>
                  </a:lnTo>
                  <a:cubicBezTo>
                    <a:pt x="2781057" y="0"/>
                    <a:pt x="2801492" y="20435"/>
                    <a:pt x="2801492" y="45643"/>
                  </a:cubicBezTo>
                  <a:lnTo>
                    <a:pt x="2801492" y="1290848"/>
                  </a:lnTo>
                  <a:cubicBezTo>
                    <a:pt x="2801492" y="1302953"/>
                    <a:pt x="2796683" y="1314562"/>
                    <a:pt x="2788123" y="1323122"/>
                  </a:cubicBezTo>
                  <a:cubicBezTo>
                    <a:pt x="2779564" y="1331682"/>
                    <a:pt x="2767954" y="1336491"/>
                    <a:pt x="2755849" y="1336491"/>
                  </a:cubicBezTo>
                  <a:lnTo>
                    <a:pt x="45643" y="1336491"/>
                  </a:lnTo>
                  <a:cubicBezTo>
                    <a:pt x="33538" y="1336491"/>
                    <a:pt x="21928" y="1331682"/>
                    <a:pt x="13369" y="1323122"/>
                  </a:cubicBezTo>
                  <a:cubicBezTo>
                    <a:pt x="4809" y="1314562"/>
                    <a:pt x="0" y="1302953"/>
                    <a:pt x="0" y="1290848"/>
                  </a:cubicBezTo>
                  <a:lnTo>
                    <a:pt x="0" y="45643"/>
                  </a:lnTo>
                  <a:cubicBezTo>
                    <a:pt x="0" y="33538"/>
                    <a:pt x="4809" y="21928"/>
                    <a:pt x="13369" y="13369"/>
                  </a:cubicBezTo>
                  <a:cubicBezTo>
                    <a:pt x="21928" y="4809"/>
                    <a:pt x="33538" y="0"/>
                    <a:pt x="4564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801492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916732" y="6419532"/>
            <a:ext cx="1785611" cy="907686"/>
          </a:xfrm>
          <a:custGeom>
            <a:avLst/>
            <a:gdLst/>
            <a:ahLst/>
            <a:cxnLst/>
            <a:rect r="r" b="b" t="t" l="l"/>
            <a:pathLst>
              <a:path h="907686" w="1785611">
                <a:moveTo>
                  <a:pt x="0" y="0"/>
                </a:moveTo>
                <a:lnTo>
                  <a:pt x="1785611" y="0"/>
                </a:lnTo>
                <a:lnTo>
                  <a:pt x="1785611" y="907686"/>
                </a:lnTo>
                <a:lnTo>
                  <a:pt x="0" y="907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561865" y="6466472"/>
            <a:ext cx="1538603" cy="813806"/>
          </a:xfrm>
          <a:custGeom>
            <a:avLst/>
            <a:gdLst/>
            <a:ahLst/>
            <a:cxnLst/>
            <a:rect r="r" b="b" t="t" l="l"/>
            <a:pathLst>
              <a:path h="813806" w="1538603">
                <a:moveTo>
                  <a:pt x="0" y="0"/>
                </a:moveTo>
                <a:lnTo>
                  <a:pt x="1538603" y="0"/>
                </a:lnTo>
                <a:lnTo>
                  <a:pt x="1538603" y="813806"/>
                </a:lnTo>
                <a:lnTo>
                  <a:pt x="0" y="813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91282" y="4762996"/>
            <a:ext cx="6749358" cy="3908282"/>
          </a:xfrm>
          <a:custGeom>
            <a:avLst/>
            <a:gdLst/>
            <a:ahLst/>
            <a:cxnLst/>
            <a:rect r="r" b="b" t="t" l="l"/>
            <a:pathLst>
              <a:path h="3908282" w="6749358">
                <a:moveTo>
                  <a:pt x="0" y="0"/>
                </a:moveTo>
                <a:lnTo>
                  <a:pt x="6749358" y="0"/>
                </a:lnTo>
                <a:lnTo>
                  <a:pt x="6749358" y="3908282"/>
                </a:lnTo>
                <a:lnTo>
                  <a:pt x="0" y="3908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46198" y="1453896"/>
            <a:ext cx="17741802" cy="103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  <a:spcBef>
                <a:spcPct val="0"/>
              </a:spcBef>
            </a:pPr>
            <a:r>
              <a:rPr lang="en-US" sz="5900" spc="896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AGE GROUP VS BUYERS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17099" y="5048250"/>
            <a:ext cx="7406182" cy="39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068" indent="-474534" lvl="1">
              <a:lnSpc>
                <a:spcPts val="6154"/>
              </a:lnSpc>
              <a:buFont typeface="Arial"/>
              <a:buChar char="•"/>
            </a:pP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Ad</a:t>
            </a: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ults (20–50) are the major buyers</a:t>
            </a:r>
          </a:p>
          <a:p>
            <a:pPr algn="l" marL="949068" indent="-474534" lvl="1">
              <a:lnSpc>
                <a:spcPts val="6154"/>
              </a:lnSpc>
              <a:buFont typeface="Arial"/>
              <a:buChar char="•"/>
            </a:pP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Seniors purchase significantly less.</a:t>
            </a:r>
          </a:p>
          <a:p>
            <a:pPr algn="l">
              <a:lnSpc>
                <a:spcPts val="6574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3107795" y="1195992"/>
            <a:ext cx="1458165" cy="1680382"/>
          </a:xfrm>
          <a:custGeom>
            <a:avLst/>
            <a:gdLst/>
            <a:ahLst/>
            <a:cxnLst/>
            <a:rect r="r" b="b" t="t" l="l"/>
            <a:pathLst>
              <a:path h="1680382" w="1458165">
                <a:moveTo>
                  <a:pt x="0" y="0"/>
                </a:moveTo>
                <a:lnTo>
                  <a:pt x="1458166" y="0"/>
                </a:lnTo>
                <a:lnTo>
                  <a:pt x="1458166" y="1680382"/>
                </a:lnTo>
                <a:lnTo>
                  <a:pt x="0" y="16803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B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4802" y="4762996"/>
            <a:ext cx="6230670" cy="4126879"/>
            <a:chOff x="0" y="0"/>
            <a:chExt cx="2017804" cy="1336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7804" cy="1336491"/>
            </a:xfrm>
            <a:custGeom>
              <a:avLst/>
              <a:gdLst/>
              <a:ahLst/>
              <a:cxnLst/>
              <a:rect r="r" b="b" t="t" l="l"/>
              <a:pathLst>
                <a:path h="1336491" w="2017804">
                  <a:moveTo>
                    <a:pt x="63370" y="0"/>
                  </a:moveTo>
                  <a:lnTo>
                    <a:pt x="1954434" y="0"/>
                  </a:lnTo>
                  <a:cubicBezTo>
                    <a:pt x="1971241" y="0"/>
                    <a:pt x="1987359" y="6676"/>
                    <a:pt x="1999243" y="18561"/>
                  </a:cubicBezTo>
                  <a:cubicBezTo>
                    <a:pt x="2011127" y="30445"/>
                    <a:pt x="2017804" y="46563"/>
                    <a:pt x="2017804" y="63370"/>
                  </a:cubicBezTo>
                  <a:lnTo>
                    <a:pt x="2017804" y="1273121"/>
                  </a:lnTo>
                  <a:cubicBezTo>
                    <a:pt x="2017804" y="1308119"/>
                    <a:pt x="1989432" y="1336491"/>
                    <a:pt x="1954434" y="1336491"/>
                  </a:cubicBezTo>
                  <a:lnTo>
                    <a:pt x="63370" y="1336491"/>
                  </a:lnTo>
                  <a:cubicBezTo>
                    <a:pt x="46563" y="1336491"/>
                    <a:pt x="30445" y="1329814"/>
                    <a:pt x="18561" y="1317930"/>
                  </a:cubicBezTo>
                  <a:cubicBezTo>
                    <a:pt x="6676" y="1306046"/>
                    <a:pt x="0" y="1289927"/>
                    <a:pt x="0" y="1273121"/>
                  </a:cubicBezTo>
                  <a:lnTo>
                    <a:pt x="0" y="63370"/>
                  </a:lnTo>
                  <a:cubicBezTo>
                    <a:pt x="0" y="46563"/>
                    <a:pt x="6676" y="30445"/>
                    <a:pt x="18561" y="18561"/>
                  </a:cubicBezTo>
                  <a:cubicBezTo>
                    <a:pt x="30445" y="6676"/>
                    <a:pt x="46563" y="0"/>
                    <a:pt x="633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017804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65961" y="3203917"/>
            <a:ext cx="9156078" cy="939209"/>
            <a:chOff x="0" y="0"/>
            <a:chExt cx="2248609" cy="230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Bar Chart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06727" y="4762996"/>
            <a:ext cx="8186470" cy="4126879"/>
            <a:chOff x="0" y="0"/>
            <a:chExt cx="2651190" cy="13364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51190" cy="1336491"/>
            </a:xfrm>
            <a:custGeom>
              <a:avLst/>
              <a:gdLst/>
              <a:ahLst/>
              <a:cxnLst/>
              <a:rect r="r" b="b" t="t" l="l"/>
              <a:pathLst>
                <a:path h="1336491" w="2651190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916732" y="6419532"/>
            <a:ext cx="1785611" cy="907686"/>
          </a:xfrm>
          <a:custGeom>
            <a:avLst/>
            <a:gdLst/>
            <a:ahLst/>
            <a:cxnLst/>
            <a:rect r="r" b="b" t="t" l="l"/>
            <a:pathLst>
              <a:path h="907686" w="1785611">
                <a:moveTo>
                  <a:pt x="0" y="0"/>
                </a:moveTo>
                <a:lnTo>
                  <a:pt x="1785611" y="0"/>
                </a:lnTo>
                <a:lnTo>
                  <a:pt x="1785611" y="907686"/>
                </a:lnTo>
                <a:lnTo>
                  <a:pt x="0" y="907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561865" y="6466472"/>
            <a:ext cx="1538603" cy="813806"/>
          </a:xfrm>
          <a:custGeom>
            <a:avLst/>
            <a:gdLst/>
            <a:ahLst/>
            <a:cxnLst/>
            <a:rect r="r" b="b" t="t" l="l"/>
            <a:pathLst>
              <a:path h="813806" w="1538603">
                <a:moveTo>
                  <a:pt x="0" y="0"/>
                </a:moveTo>
                <a:lnTo>
                  <a:pt x="1538603" y="0"/>
                </a:lnTo>
                <a:lnTo>
                  <a:pt x="1538603" y="813806"/>
                </a:lnTo>
                <a:lnTo>
                  <a:pt x="0" y="813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958849" y="5143500"/>
            <a:ext cx="5214224" cy="3494260"/>
          </a:xfrm>
          <a:custGeom>
            <a:avLst/>
            <a:gdLst/>
            <a:ahLst/>
            <a:cxnLst/>
            <a:rect r="r" b="b" t="t" l="l"/>
            <a:pathLst>
              <a:path h="3494260" w="5214224">
                <a:moveTo>
                  <a:pt x="0" y="0"/>
                </a:moveTo>
                <a:lnTo>
                  <a:pt x="5214224" y="0"/>
                </a:lnTo>
                <a:lnTo>
                  <a:pt x="5214224" y="3494260"/>
                </a:lnTo>
                <a:lnTo>
                  <a:pt x="0" y="3494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5" t="0" r="-1915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46198" y="1434846"/>
            <a:ext cx="16701872" cy="119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  <a:spcBef>
                <a:spcPct val="0"/>
              </a:spcBef>
            </a:pPr>
            <a:r>
              <a:rPr lang="en-US" sz="6900" spc="104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OCCUPATION VS BUYERS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06170" y="5205729"/>
            <a:ext cx="7587585" cy="307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763" indent="-377382" lvl="1">
              <a:lnSpc>
                <a:spcPts val="4894"/>
              </a:lnSpc>
              <a:buFont typeface="Arial"/>
              <a:buChar char="•"/>
            </a:pPr>
            <a:r>
              <a:rPr lang="en-US" sz="3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Top buyers:</a:t>
            </a:r>
            <a:r>
              <a:rPr lang="en-US" sz="3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Skilled Manual &amp; Professional</a:t>
            </a:r>
          </a:p>
          <a:p>
            <a:pPr algn="l" marL="754763" indent="-377382" lvl="1">
              <a:lnSpc>
                <a:spcPts val="4894"/>
              </a:lnSpc>
              <a:buFont typeface="Arial"/>
              <a:buChar char="•"/>
            </a:pPr>
            <a:r>
              <a:rPr lang="en-US" sz="3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Lowest b</a:t>
            </a:r>
            <a:r>
              <a:rPr lang="en-US" sz="3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uyers: Manual labor</a:t>
            </a:r>
          </a:p>
          <a:p>
            <a:pPr algn="l">
              <a:lnSpc>
                <a:spcPts val="4894"/>
              </a:lnSpc>
            </a:pPr>
            <a:r>
              <a:rPr lang="en-US" sz="3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Hence, it </a:t>
            </a:r>
            <a:r>
              <a:rPr lang="en-US" sz="3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Indicates bike purchases are linked to income stability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873001" y="1269017"/>
            <a:ext cx="1458165" cy="1680382"/>
          </a:xfrm>
          <a:custGeom>
            <a:avLst/>
            <a:gdLst/>
            <a:ahLst/>
            <a:cxnLst/>
            <a:rect r="r" b="b" t="t" l="l"/>
            <a:pathLst>
              <a:path h="1680382" w="1458165">
                <a:moveTo>
                  <a:pt x="0" y="0"/>
                </a:moveTo>
                <a:lnTo>
                  <a:pt x="1458165" y="0"/>
                </a:lnTo>
                <a:lnTo>
                  <a:pt x="1458165" y="1680383"/>
                </a:lnTo>
                <a:lnTo>
                  <a:pt x="0" y="16803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A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2415" y="4476501"/>
            <a:ext cx="6230670" cy="4403848"/>
            <a:chOff x="0" y="0"/>
            <a:chExt cx="2017804" cy="14261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7804" cy="1426187"/>
            </a:xfrm>
            <a:custGeom>
              <a:avLst/>
              <a:gdLst/>
              <a:ahLst/>
              <a:cxnLst/>
              <a:rect r="r" b="b" t="t" l="l"/>
              <a:pathLst>
                <a:path h="1426187" w="2017804">
                  <a:moveTo>
                    <a:pt x="63370" y="0"/>
                  </a:moveTo>
                  <a:lnTo>
                    <a:pt x="1954434" y="0"/>
                  </a:lnTo>
                  <a:cubicBezTo>
                    <a:pt x="1971241" y="0"/>
                    <a:pt x="1987359" y="6676"/>
                    <a:pt x="1999243" y="18561"/>
                  </a:cubicBezTo>
                  <a:cubicBezTo>
                    <a:pt x="2011127" y="30445"/>
                    <a:pt x="2017804" y="46563"/>
                    <a:pt x="2017804" y="63370"/>
                  </a:cubicBezTo>
                  <a:lnTo>
                    <a:pt x="2017804" y="1362817"/>
                  </a:lnTo>
                  <a:cubicBezTo>
                    <a:pt x="2017804" y="1397816"/>
                    <a:pt x="1989432" y="1426187"/>
                    <a:pt x="1954434" y="1426187"/>
                  </a:cubicBezTo>
                  <a:lnTo>
                    <a:pt x="63370" y="1426187"/>
                  </a:lnTo>
                  <a:cubicBezTo>
                    <a:pt x="46563" y="1426187"/>
                    <a:pt x="30445" y="1419511"/>
                    <a:pt x="18561" y="1407627"/>
                  </a:cubicBezTo>
                  <a:cubicBezTo>
                    <a:pt x="6676" y="1395742"/>
                    <a:pt x="0" y="1379624"/>
                    <a:pt x="0" y="1362817"/>
                  </a:cubicBezTo>
                  <a:lnTo>
                    <a:pt x="0" y="63370"/>
                  </a:lnTo>
                  <a:cubicBezTo>
                    <a:pt x="0" y="46563"/>
                    <a:pt x="6676" y="30445"/>
                    <a:pt x="18561" y="18561"/>
                  </a:cubicBezTo>
                  <a:cubicBezTo>
                    <a:pt x="30445" y="6676"/>
                    <a:pt x="46563" y="0"/>
                    <a:pt x="633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017804" cy="1492862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69584" y="4476501"/>
            <a:ext cx="8186470" cy="4403848"/>
            <a:chOff x="0" y="0"/>
            <a:chExt cx="2651190" cy="1426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51190" cy="1426187"/>
            </a:xfrm>
            <a:custGeom>
              <a:avLst/>
              <a:gdLst/>
              <a:ahLst/>
              <a:cxnLst/>
              <a:rect r="r" b="b" t="t" l="l"/>
              <a:pathLst>
                <a:path h="1426187" w="2651190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377957"/>
                  </a:lnTo>
                  <a:cubicBezTo>
                    <a:pt x="2651190" y="1390748"/>
                    <a:pt x="2646109" y="1403016"/>
                    <a:pt x="2637064" y="1412061"/>
                  </a:cubicBezTo>
                  <a:cubicBezTo>
                    <a:pt x="2628019" y="1421106"/>
                    <a:pt x="2615751" y="1426187"/>
                    <a:pt x="2602960" y="1426187"/>
                  </a:cubicBezTo>
                  <a:lnTo>
                    <a:pt x="48231" y="1426187"/>
                  </a:lnTo>
                  <a:cubicBezTo>
                    <a:pt x="35439" y="1426187"/>
                    <a:pt x="23171" y="1421106"/>
                    <a:pt x="14126" y="1412061"/>
                  </a:cubicBezTo>
                  <a:cubicBezTo>
                    <a:pt x="5081" y="1403016"/>
                    <a:pt x="0" y="1390748"/>
                    <a:pt x="0" y="1377957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651190" cy="1492862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64931" y="3203917"/>
            <a:ext cx="9156078" cy="939209"/>
            <a:chOff x="0" y="0"/>
            <a:chExt cx="2248609" cy="2306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Tree map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681939" y="4810001"/>
            <a:ext cx="4351622" cy="3736850"/>
          </a:xfrm>
          <a:custGeom>
            <a:avLst/>
            <a:gdLst/>
            <a:ahLst/>
            <a:cxnLst/>
            <a:rect r="r" b="b" t="t" l="l"/>
            <a:pathLst>
              <a:path h="3736850" w="4351622">
                <a:moveTo>
                  <a:pt x="0" y="0"/>
                </a:moveTo>
                <a:lnTo>
                  <a:pt x="4351622" y="0"/>
                </a:lnTo>
                <a:lnTo>
                  <a:pt x="4351622" y="3736849"/>
                </a:lnTo>
                <a:lnTo>
                  <a:pt x="0" y="3736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66315" y="5190941"/>
            <a:ext cx="7993008" cy="317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6353" indent="-388176" lvl="1">
              <a:lnSpc>
                <a:spcPts val="5034"/>
              </a:lnSpc>
              <a:buFont typeface="Arial"/>
              <a:buChar char="•"/>
            </a:pPr>
            <a:r>
              <a:rPr lang="en-US" sz="35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N</a:t>
            </a:r>
            <a:r>
              <a:rPr lang="en-US" sz="35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orth America (508) → highest buyers</a:t>
            </a:r>
          </a:p>
          <a:p>
            <a:pPr algn="l" marL="776353" indent="-388176" lvl="1">
              <a:lnSpc>
                <a:spcPts val="5034"/>
              </a:lnSpc>
              <a:buFont typeface="Arial"/>
              <a:buChar char="•"/>
            </a:pPr>
            <a:r>
              <a:rPr lang="en-US" sz="35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Europe (316) → sec</a:t>
            </a:r>
            <a:r>
              <a:rPr lang="en-US" sz="35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ond</a:t>
            </a:r>
          </a:p>
          <a:p>
            <a:pPr algn="l" marL="776353" indent="-388176" lvl="1">
              <a:lnSpc>
                <a:spcPts val="5034"/>
              </a:lnSpc>
              <a:buFont typeface="Arial"/>
              <a:buChar char="•"/>
            </a:pPr>
            <a:r>
              <a:rPr lang="en-US" sz="35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Pacific (202) → lowest</a:t>
            </a:r>
          </a:p>
          <a:p>
            <a:pPr algn="l">
              <a:lnSpc>
                <a:spcPts val="5034"/>
              </a:lnSpc>
            </a:pPr>
            <a:r>
              <a:rPr lang="en-US" sz="35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Hence, </a:t>
            </a:r>
            <a:r>
              <a:rPr lang="en-US" sz="35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Region heavily influences purchase behavior.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3064" y="1180994"/>
            <a:ext cx="16701872" cy="140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  <a:spcBef>
                <a:spcPct val="0"/>
              </a:spcBef>
            </a:pPr>
            <a:r>
              <a:rPr lang="en-US" sz="8100" spc="1231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BUYERS ACROSS REGIONS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8700" y="1352444"/>
            <a:ext cx="1458165" cy="1680382"/>
          </a:xfrm>
          <a:custGeom>
            <a:avLst/>
            <a:gdLst/>
            <a:ahLst/>
            <a:cxnLst/>
            <a:rect r="r" b="b" t="t" l="l"/>
            <a:pathLst>
              <a:path h="1680382" w="1458165">
                <a:moveTo>
                  <a:pt x="0" y="0"/>
                </a:moveTo>
                <a:lnTo>
                  <a:pt x="1458165" y="0"/>
                </a:lnTo>
                <a:lnTo>
                  <a:pt x="1458165" y="1680382"/>
                </a:lnTo>
                <a:lnTo>
                  <a:pt x="0" y="16803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C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1D79CD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5961" y="3203917"/>
            <a:ext cx="9156078" cy="939209"/>
            <a:chOff x="0" y="0"/>
            <a:chExt cx="2248609" cy="230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influencing Bike Purchase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298028" y="4180459"/>
            <a:ext cx="12188964" cy="5681478"/>
            <a:chOff x="0" y="0"/>
            <a:chExt cx="3947399" cy="18399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47399" cy="1839948"/>
            </a:xfrm>
            <a:custGeom>
              <a:avLst/>
              <a:gdLst/>
              <a:ahLst/>
              <a:cxnLst/>
              <a:rect r="r" b="b" t="t" l="l"/>
              <a:pathLst>
                <a:path h="1839948" w="3947399">
                  <a:moveTo>
                    <a:pt x="32393" y="0"/>
                  </a:moveTo>
                  <a:lnTo>
                    <a:pt x="3915006" y="0"/>
                  </a:lnTo>
                  <a:cubicBezTo>
                    <a:pt x="3932896" y="0"/>
                    <a:pt x="3947399" y="14503"/>
                    <a:pt x="3947399" y="32393"/>
                  </a:cubicBezTo>
                  <a:lnTo>
                    <a:pt x="3947399" y="1807555"/>
                  </a:lnTo>
                  <a:cubicBezTo>
                    <a:pt x="3947399" y="1825445"/>
                    <a:pt x="3932896" y="1839948"/>
                    <a:pt x="3915006" y="1839948"/>
                  </a:cubicBezTo>
                  <a:lnTo>
                    <a:pt x="32393" y="1839948"/>
                  </a:lnTo>
                  <a:cubicBezTo>
                    <a:pt x="14503" y="1839948"/>
                    <a:pt x="0" y="1825445"/>
                    <a:pt x="0" y="1807555"/>
                  </a:cubicBezTo>
                  <a:lnTo>
                    <a:pt x="0" y="32393"/>
                  </a:lnTo>
                  <a:cubicBezTo>
                    <a:pt x="0" y="14503"/>
                    <a:pt x="14503" y="0"/>
                    <a:pt x="3239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3947399" cy="1906623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0" y="0"/>
            <a:ext cx="1516617" cy="2460588"/>
          </a:xfrm>
          <a:custGeom>
            <a:avLst/>
            <a:gdLst/>
            <a:ahLst/>
            <a:cxnLst/>
            <a:rect r="r" b="b" t="t" l="l"/>
            <a:pathLst>
              <a:path h="2460588" w="1516617">
                <a:moveTo>
                  <a:pt x="0" y="0"/>
                </a:moveTo>
                <a:lnTo>
                  <a:pt x="1516617" y="0"/>
                </a:lnTo>
                <a:lnTo>
                  <a:pt x="1516617" y="2460588"/>
                </a:lnTo>
                <a:lnTo>
                  <a:pt x="0" y="2460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490697"/>
            <a:ext cx="17494936" cy="142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 spc="1261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TOP 5 HIGH IMPACT FILTERS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09077" y="4359595"/>
            <a:ext cx="10069847" cy="5256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69" indent="-345435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Commute Distance 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-</a:t>
            </a:r>
            <a:r>
              <a:rPr lang="en-US" sz="29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Short-distance commuters are most likely to buy.</a:t>
            </a:r>
          </a:p>
          <a:p>
            <a:pPr algn="l" marL="647690" indent="-323845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Age Group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-A</a:t>
            </a:r>
            <a:r>
              <a:rPr lang="en-US" sz="29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dults dominate purchases.</a:t>
            </a:r>
          </a:p>
          <a:p>
            <a:pPr algn="l" marL="647690" indent="-323845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Region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-</a:t>
            </a:r>
            <a:r>
              <a:rPr lang="en-US" sz="29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North America &amp; Europe drive the majority of sales.</a:t>
            </a:r>
          </a:p>
          <a:p>
            <a:pPr algn="l" marL="647690" indent="-323845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Income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-</a:t>
            </a:r>
            <a:r>
              <a:rPr lang="en-US" sz="29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Higher income → higher purchase probability.</a:t>
            </a:r>
          </a:p>
          <a:p>
            <a:pPr algn="l" marL="647690" indent="-323845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Home Ownership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-</a:t>
            </a:r>
            <a:r>
              <a:rPr lang="en-US" sz="28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Homeowners show strong purchase inclination (68%)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C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1D79CD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5961" y="3203917"/>
            <a:ext cx="9156078" cy="939209"/>
            <a:chOff x="0" y="0"/>
            <a:chExt cx="2248609" cy="230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for Stakeholders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93064" y="1161944"/>
            <a:ext cx="17494936" cy="156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  <a:spcBef>
                <a:spcPct val="0"/>
              </a:spcBef>
            </a:pPr>
            <a:r>
              <a:rPr lang="en-US" sz="9000" spc="136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OVERALL INSIGHTS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8028" y="4180459"/>
            <a:ext cx="12188964" cy="5681478"/>
            <a:chOff x="0" y="0"/>
            <a:chExt cx="3947399" cy="18399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47399" cy="1839948"/>
            </a:xfrm>
            <a:custGeom>
              <a:avLst/>
              <a:gdLst/>
              <a:ahLst/>
              <a:cxnLst/>
              <a:rect r="r" b="b" t="t" l="l"/>
              <a:pathLst>
                <a:path h="1839948" w="3947399">
                  <a:moveTo>
                    <a:pt x="32393" y="0"/>
                  </a:moveTo>
                  <a:lnTo>
                    <a:pt x="3915006" y="0"/>
                  </a:lnTo>
                  <a:cubicBezTo>
                    <a:pt x="3932896" y="0"/>
                    <a:pt x="3947399" y="14503"/>
                    <a:pt x="3947399" y="32393"/>
                  </a:cubicBezTo>
                  <a:lnTo>
                    <a:pt x="3947399" y="1807555"/>
                  </a:lnTo>
                  <a:cubicBezTo>
                    <a:pt x="3947399" y="1825445"/>
                    <a:pt x="3932896" y="1839948"/>
                    <a:pt x="3915006" y="1839948"/>
                  </a:cubicBezTo>
                  <a:lnTo>
                    <a:pt x="32393" y="1839948"/>
                  </a:lnTo>
                  <a:cubicBezTo>
                    <a:pt x="14503" y="1839948"/>
                    <a:pt x="0" y="1825445"/>
                    <a:pt x="0" y="1807555"/>
                  </a:cubicBezTo>
                  <a:lnTo>
                    <a:pt x="0" y="32393"/>
                  </a:lnTo>
                  <a:cubicBezTo>
                    <a:pt x="0" y="14503"/>
                    <a:pt x="14503" y="0"/>
                    <a:pt x="3239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3947399" cy="1906623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10599070">
            <a:off x="14862391" y="8495501"/>
            <a:ext cx="3372256" cy="1925252"/>
          </a:xfrm>
          <a:custGeom>
            <a:avLst/>
            <a:gdLst/>
            <a:ahLst/>
            <a:cxnLst/>
            <a:rect r="r" b="b" t="t" l="l"/>
            <a:pathLst>
              <a:path h="1925252" w="3372256">
                <a:moveTo>
                  <a:pt x="0" y="0"/>
                </a:moveTo>
                <a:lnTo>
                  <a:pt x="3372257" y="0"/>
                </a:lnTo>
                <a:lnTo>
                  <a:pt x="3372257" y="1925251"/>
                </a:lnTo>
                <a:lnTo>
                  <a:pt x="0" y="1925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0" y="0"/>
            <a:ext cx="3372256" cy="1925252"/>
          </a:xfrm>
          <a:custGeom>
            <a:avLst/>
            <a:gdLst/>
            <a:ahLst/>
            <a:cxnLst/>
            <a:rect r="r" b="b" t="t" l="l"/>
            <a:pathLst>
              <a:path h="1925252" w="3372256">
                <a:moveTo>
                  <a:pt x="0" y="0"/>
                </a:moveTo>
                <a:lnTo>
                  <a:pt x="3372256" y="0"/>
                </a:lnTo>
                <a:lnTo>
                  <a:pt x="3372256" y="1925252"/>
                </a:lnTo>
                <a:lnTo>
                  <a:pt x="0" y="1925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304892" y="1352444"/>
            <a:ext cx="2487255" cy="2175217"/>
          </a:xfrm>
          <a:custGeom>
            <a:avLst/>
            <a:gdLst/>
            <a:ahLst/>
            <a:cxnLst/>
            <a:rect r="r" b="b" t="t" l="l"/>
            <a:pathLst>
              <a:path h="2175217" w="2487255">
                <a:moveTo>
                  <a:pt x="0" y="0"/>
                </a:moveTo>
                <a:lnTo>
                  <a:pt x="2487255" y="0"/>
                </a:lnTo>
                <a:lnTo>
                  <a:pt x="2487255" y="2175217"/>
                </a:lnTo>
                <a:lnTo>
                  <a:pt x="0" y="2175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926011" y="5076825"/>
            <a:ext cx="10363359" cy="4051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69" indent="-345435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Adults are the key target group</a:t>
            </a:r>
          </a:p>
          <a:p>
            <a:pPr algn="l" marL="690869" indent="-345435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Gen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der split is balanced → both segments equally important</a:t>
            </a:r>
          </a:p>
          <a:p>
            <a:pPr algn="l" marL="690869" indent="-345435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Hom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eowners &amp; high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-inc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ome professionals are dominant buyers</a:t>
            </a:r>
          </a:p>
          <a:p>
            <a:pPr algn="l" marL="690869" indent="-345435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N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orth A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merica &amp; Europe outperform Pacific region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C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71022" y="1028700"/>
            <a:ext cx="20830043" cy="2654900"/>
            <a:chOff x="0" y="0"/>
            <a:chExt cx="5115576" cy="652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1D79CD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298028" y="4180459"/>
            <a:ext cx="12188964" cy="5681478"/>
            <a:chOff x="0" y="0"/>
            <a:chExt cx="3947399" cy="18399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47399" cy="1839948"/>
            </a:xfrm>
            <a:custGeom>
              <a:avLst/>
              <a:gdLst/>
              <a:ahLst/>
              <a:cxnLst/>
              <a:rect r="r" b="b" t="t" l="l"/>
              <a:pathLst>
                <a:path h="1839948" w="3947399">
                  <a:moveTo>
                    <a:pt x="32393" y="0"/>
                  </a:moveTo>
                  <a:lnTo>
                    <a:pt x="3915006" y="0"/>
                  </a:lnTo>
                  <a:cubicBezTo>
                    <a:pt x="3932896" y="0"/>
                    <a:pt x="3947399" y="14503"/>
                    <a:pt x="3947399" y="32393"/>
                  </a:cubicBezTo>
                  <a:lnTo>
                    <a:pt x="3947399" y="1807555"/>
                  </a:lnTo>
                  <a:cubicBezTo>
                    <a:pt x="3947399" y="1825445"/>
                    <a:pt x="3932896" y="1839948"/>
                    <a:pt x="3915006" y="1839948"/>
                  </a:cubicBezTo>
                  <a:lnTo>
                    <a:pt x="32393" y="1839948"/>
                  </a:lnTo>
                  <a:cubicBezTo>
                    <a:pt x="14503" y="1839948"/>
                    <a:pt x="0" y="1825445"/>
                    <a:pt x="0" y="1807555"/>
                  </a:cubicBezTo>
                  <a:lnTo>
                    <a:pt x="0" y="32393"/>
                  </a:lnTo>
                  <a:cubicBezTo>
                    <a:pt x="0" y="14503"/>
                    <a:pt x="14503" y="0"/>
                    <a:pt x="3239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3947399" cy="1906623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0"/>
            <a:ext cx="3372256" cy="1925252"/>
          </a:xfrm>
          <a:custGeom>
            <a:avLst/>
            <a:gdLst/>
            <a:ahLst/>
            <a:cxnLst/>
            <a:rect r="r" b="b" t="t" l="l"/>
            <a:pathLst>
              <a:path h="1925252" w="3372256">
                <a:moveTo>
                  <a:pt x="0" y="0"/>
                </a:moveTo>
                <a:lnTo>
                  <a:pt x="3372256" y="0"/>
                </a:lnTo>
                <a:lnTo>
                  <a:pt x="3372256" y="1925252"/>
                </a:lnTo>
                <a:lnTo>
                  <a:pt x="0" y="1925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80755" y="4359595"/>
            <a:ext cx="11331949" cy="556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69" indent="-345435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Focus marketing on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Adults aged 20–50.</a:t>
            </a:r>
          </a:p>
          <a:p>
            <a:pPr algn="l" marL="690869" indent="-345435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Promote high-utility commute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-frien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dly bikes .</a:t>
            </a:r>
          </a:p>
          <a:p>
            <a:pPr algn="l" marL="690869" indent="-345435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Increase presence in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North America &amp; Europe, </a:t>
            </a: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boost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Pacific with offers.</a:t>
            </a:r>
          </a:p>
          <a:p>
            <a:pPr algn="l" marL="690869" indent="-345435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Create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occupation-based </a:t>
            </a: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financing plans.</a:t>
            </a:r>
          </a:p>
          <a:p>
            <a:pPr algn="l" marL="690869" indent="-345435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Lau</a:t>
            </a: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nch 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female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-or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iented campaigns.</a:t>
            </a:r>
          </a:p>
          <a:p>
            <a:pPr algn="l" marL="690869" indent="-345435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Offer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premium models </a:t>
            </a: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or 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loans </a:t>
            </a: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to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high-income &amp; h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omeowners.</a:t>
            </a:r>
          </a:p>
          <a:p>
            <a:pPr algn="l" marL="690869" indent="-345435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Use</a:t>
            </a:r>
            <a:r>
              <a:rPr lang="en-US" b="true" sz="319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demographic filters (cars, marital status, children) </a:t>
            </a: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for micro-targeting.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10599070">
            <a:off x="14862391" y="8495501"/>
            <a:ext cx="3372256" cy="1925252"/>
          </a:xfrm>
          <a:custGeom>
            <a:avLst/>
            <a:gdLst/>
            <a:ahLst/>
            <a:cxnLst/>
            <a:rect r="r" b="b" t="t" l="l"/>
            <a:pathLst>
              <a:path h="1925252" w="3372256">
                <a:moveTo>
                  <a:pt x="0" y="0"/>
                </a:moveTo>
                <a:lnTo>
                  <a:pt x="3372257" y="0"/>
                </a:lnTo>
                <a:lnTo>
                  <a:pt x="3372257" y="1925251"/>
                </a:lnTo>
                <a:lnTo>
                  <a:pt x="0" y="1925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93064" y="1556690"/>
            <a:ext cx="17494936" cy="142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 spc="1261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BUSINESS RECOMMENDATIONS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C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9327" y="0"/>
            <a:ext cx="19087658" cy="1637104"/>
            <a:chOff x="0" y="0"/>
            <a:chExt cx="4687670" cy="4020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7670" cy="402051"/>
            </a:xfrm>
            <a:custGeom>
              <a:avLst/>
              <a:gdLst/>
              <a:ahLst/>
              <a:cxnLst/>
              <a:rect r="r" b="b" t="t" l="l"/>
              <a:pathLst>
                <a:path h="402051" w="4687670">
                  <a:moveTo>
                    <a:pt x="20686" y="0"/>
                  </a:moveTo>
                  <a:lnTo>
                    <a:pt x="4666985" y="0"/>
                  </a:lnTo>
                  <a:cubicBezTo>
                    <a:pt x="4678409" y="0"/>
                    <a:pt x="4687670" y="9261"/>
                    <a:pt x="4687670" y="20686"/>
                  </a:cubicBezTo>
                  <a:lnTo>
                    <a:pt x="4687670" y="381365"/>
                  </a:lnTo>
                  <a:cubicBezTo>
                    <a:pt x="4687670" y="392789"/>
                    <a:pt x="4678409" y="402051"/>
                    <a:pt x="4666985" y="402051"/>
                  </a:cubicBezTo>
                  <a:lnTo>
                    <a:pt x="20686" y="402051"/>
                  </a:lnTo>
                  <a:cubicBezTo>
                    <a:pt x="9261" y="402051"/>
                    <a:pt x="0" y="392789"/>
                    <a:pt x="0" y="381365"/>
                  </a:cubicBezTo>
                  <a:lnTo>
                    <a:pt x="0" y="20686"/>
                  </a:lnTo>
                  <a:cubicBezTo>
                    <a:pt x="0" y="9261"/>
                    <a:pt x="9261" y="0"/>
                    <a:pt x="20686" y="0"/>
                  </a:cubicBezTo>
                  <a:close/>
                </a:path>
              </a:pathLst>
            </a:custGeom>
            <a:solidFill>
              <a:srgbClr val="1D79CD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4687670" cy="59255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76385" y="1977044"/>
            <a:ext cx="13457932" cy="8045795"/>
          </a:xfrm>
          <a:custGeom>
            <a:avLst/>
            <a:gdLst/>
            <a:ahLst/>
            <a:cxnLst/>
            <a:rect r="r" b="b" t="t" l="l"/>
            <a:pathLst>
              <a:path h="8045795" w="13457932">
                <a:moveTo>
                  <a:pt x="0" y="0"/>
                </a:moveTo>
                <a:lnTo>
                  <a:pt x="13457931" y="0"/>
                </a:lnTo>
                <a:lnTo>
                  <a:pt x="13457931" y="8045795"/>
                </a:lnTo>
                <a:lnTo>
                  <a:pt x="0" y="804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80" t="-24178" r="-5023" b="-2872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02726" y="183598"/>
            <a:ext cx="1452077" cy="1269907"/>
          </a:xfrm>
          <a:custGeom>
            <a:avLst/>
            <a:gdLst/>
            <a:ahLst/>
            <a:cxnLst/>
            <a:rect r="r" b="b" t="t" l="l"/>
            <a:pathLst>
              <a:path h="1269907" w="1452077">
                <a:moveTo>
                  <a:pt x="0" y="0"/>
                </a:moveTo>
                <a:lnTo>
                  <a:pt x="1452077" y="0"/>
                </a:lnTo>
                <a:lnTo>
                  <a:pt x="1452077" y="1269908"/>
                </a:lnTo>
                <a:lnTo>
                  <a:pt x="0" y="1269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63006" y="85135"/>
            <a:ext cx="13237416" cy="130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 spc="114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FINAL DASHBOARD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C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638906"/>
            <a:ext cx="16955685" cy="2681550"/>
            <a:chOff x="0" y="0"/>
            <a:chExt cx="4164086" cy="6585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64087" cy="658552"/>
            </a:xfrm>
            <a:custGeom>
              <a:avLst/>
              <a:gdLst/>
              <a:ahLst/>
              <a:cxnLst/>
              <a:rect r="r" b="b" t="t" l="l"/>
              <a:pathLst>
                <a:path h="658552" w="4164087">
                  <a:moveTo>
                    <a:pt x="23286" y="0"/>
                  </a:moveTo>
                  <a:lnTo>
                    <a:pt x="4140800" y="0"/>
                  </a:lnTo>
                  <a:cubicBezTo>
                    <a:pt x="4146976" y="0"/>
                    <a:pt x="4152899" y="2453"/>
                    <a:pt x="4157266" y="6820"/>
                  </a:cubicBezTo>
                  <a:cubicBezTo>
                    <a:pt x="4161633" y="11188"/>
                    <a:pt x="4164087" y="17111"/>
                    <a:pt x="4164087" y="23286"/>
                  </a:cubicBezTo>
                  <a:lnTo>
                    <a:pt x="4164087" y="635266"/>
                  </a:lnTo>
                  <a:cubicBezTo>
                    <a:pt x="4164087" y="641442"/>
                    <a:pt x="4161633" y="647365"/>
                    <a:pt x="4157266" y="651732"/>
                  </a:cubicBezTo>
                  <a:cubicBezTo>
                    <a:pt x="4152899" y="656099"/>
                    <a:pt x="4146976" y="658552"/>
                    <a:pt x="4140800" y="658552"/>
                  </a:cubicBezTo>
                  <a:lnTo>
                    <a:pt x="23286" y="658552"/>
                  </a:lnTo>
                  <a:cubicBezTo>
                    <a:pt x="17111" y="658552"/>
                    <a:pt x="11188" y="656099"/>
                    <a:pt x="6820" y="651732"/>
                  </a:cubicBezTo>
                  <a:cubicBezTo>
                    <a:pt x="2453" y="647365"/>
                    <a:pt x="0" y="641442"/>
                    <a:pt x="0" y="635266"/>
                  </a:cubicBezTo>
                  <a:lnTo>
                    <a:pt x="0" y="23286"/>
                  </a:lnTo>
                  <a:cubicBezTo>
                    <a:pt x="0" y="17111"/>
                    <a:pt x="2453" y="11188"/>
                    <a:pt x="6820" y="6820"/>
                  </a:cubicBezTo>
                  <a:cubicBezTo>
                    <a:pt x="11188" y="2453"/>
                    <a:pt x="17111" y="0"/>
                    <a:pt x="23286" y="0"/>
                  </a:cubicBezTo>
                  <a:close/>
                </a:path>
              </a:pathLst>
            </a:custGeom>
            <a:solidFill>
              <a:srgbClr val="1D79CD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4164086" cy="84905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543684" y="4024647"/>
            <a:ext cx="2313957" cy="1910066"/>
          </a:xfrm>
          <a:custGeom>
            <a:avLst/>
            <a:gdLst/>
            <a:ahLst/>
            <a:cxnLst/>
            <a:rect r="r" b="b" t="t" l="l"/>
            <a:pathLst>
              <a:path h="1910066" w="2313957">
                <a:moveTo>
                  <a:pt x="0" y="0"/>
                </a:moveTo>
                <a:lnTo>
                  <a:pt x="2313957" y="0"/>
                </a:lnTo>
                <a:lnTo>
                  <a:pt x="2313957" y="1910067"/>
                </a:lnTo>
                <a:lnTo>
                  <a:pt x="0" y="1910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74288" y="4012703"/>
            <a:ext cx="2313957" cy="1910066"/>
          </a:xfrm>
          <a:custGeom>
            <a:avLst/>
            <a:gdLst/>
            <a:ahLst/>
            <a:cxnLst/>
            <a:rect r="r" b="b" t="t" l="l"/>
            <a:pathLst>
              <a:path h="1910066" w="2313957">
                <a:moveTo>
                  <a:pt x="0" y="0"/>
                </a:moveTo>
                <a:lnTo>
                  <a:pt x="2313957" y="0"/>
                </a:lnTo>
                <a:lnTo>
                  <a:pt x="2313957" y="1910066"/>
                </a:lnTo>
                <a:lnTo>
                  <a:pt x="0" y="1910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7428" y="3803153"/>
            <a:ext cx="16701872" cy="172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THANK YOU!!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DAG5mM-dCc8</dc:identifier>
  <dcterms:modified xsi:type="dcterms:W3CDTF">2011-08-01T06:04:30Z</dcterms:modified>
  <cp:revision>1</cp:revision>
  <dc:title>Bike Dekho Sales Analysis PPT</dc:title>
</cp:coreProperties>
</file>